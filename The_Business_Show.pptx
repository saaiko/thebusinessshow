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الغلاف — The Business Show. صورة الخلفية: https://d8j0ntlcm91z4.cloudfront.net/user_3DIduyBmzwYgrJ6fxIBny2g7uu3/hf_20260701_060546_696d30aa-45c3-4fb7-b212-b9c3cd81c514.png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[صورة] المقدِّمة — في الاستوديو: https://d8j0ntlcm91z4.cloudfront.net/user_3DIduyBmzwYgrJ6fxIBny2g7uu3/hf_20260701_060550_7d48016f-3dad-4a2e-b323-1cc867552a83.png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[صورة] الكرسي المقابل — لحظة متأصّلة في البرنامج: https://d8j0ntlcm91z4.cloudfront.net/user_3DIduyBmzwYgrJ6fxIBny2g7uu3/hf_20260701_053411_86db6605-555f-492b-b349-f04ed09707a3.png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[صورة] الطاولة نفسها عند حضور الضيف — طاولة وكراسٍ عالية: https://d8j0ntlcm91z4.cloudfront.net/user_3DIduyBmzwYgrJ6fxIBny2g7uu3/hf_20260701_060553_15484b5a-9c34-485c-95ce-5043676707c5.png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[صورة] لوحة الخامات: https://d8j0ntlcm91z4.cloudfront.net/user_3DIduyBmzwYgrJ6fxIBny2g7uu3/hf_20260701_053429_9828122b-3bf2-400f-96af-189ded280e78.png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[صورة] نموذج Lower-third + بطاقة بيانات: https://d8j0ntlcm91z4.cloudfront.net/user_3DIduyBmzwYgrJ6fxIBny2g7uu3/hf_20260701_053426_bd2f7b1b-2a22-4f31-ac4c-92d3822e90d7.png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[صورة] كادر عمودي 9:16: https://d8j0ntlcm91z4.cloudfront.net/user_3DIduyBmzwYgrJ6fxIBny2g7uu3/hf_20260701_060555_fde81cf9-2958-4cc7-99d7-020198cccf29.png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1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1A1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97135" cy="3291840"/>
          </a:xfrm>
          <a:prstGeom prst="rect">
            <a:avLst/>
          </a:prstGeom>
          <a:noFill/>
        </p:spPr>
        <p:txBody>
          <a:bodyPr wrap="square" anchor="ctr" lIns="25400" rIns="25400" tIns="25400" bIns="25400">
            <a:spAutoFit/>
          </a:bodyPr>
          <a:lstStyle/>
          <a:p>
            <a:pPr algn="ctr">
              <a:lnSpc>
                <a:spcPct val="115000"/>
              </a:lnSpc>
              <a:spcBef>
                <a:spcPts val="0"/>
              </a:spcBef>
              <a:spcAft>
                <a:spcPts val="800"/>
              </a:spcAft>
            </a:pPr>
            <a:r>
              <a:rPr sz="1400" b="1">
                <a:solidFill>
                  <a:srgbClr val="FFFFFF"/>
                </a:solidFill>
                <a:latin typeface="Cairo"/>
                <a:cs typeface="Cairo"/>
              </a:rPr>
              <a:t>CNN BUSINESS ARABIC</a:t>
            </a:r>
          </a:p>
          <a:p>
            <a:pPr algn="ctr">
              <a:lnSpc>
                <a:spcPct val="115000"/>
              </a:lnSpc>
              <a:spcBef>
                <a:spcPts val="0"/>
              </a:spcBef>
              <a:spcAft>
                <a:spcPts val="400"/>
              </a:spcAft>
            </a:pPr>
            <a:r>
              <a:rPr sz="5800" b="1">
                <a:solidFill>
                  <a:srgbClr val="FFFFFF"/>
                </a:solidFill>
                <a:latin typeface="Cairo"/>
                <a:cs typeface="Cairo"/>
              </a:rPr>
              <a:t>The Business Show</a:t>
            </a:r>
          </a:p>
          <a:p>
            <a:pPr algn="ctr" rtl="1">
              <a:lnSpc>
                <a:spcPct val="115000"/>
              </a:lnSpc>
              <a:spcBef>
                <a:spcPts val="0"/>
              </a:spcBef>
              <a:spcAft>
                <a:spcPts val="1400"/>
              </a:spcAft>
            </a:pPr>
            <a:r>
              <a:rPr sz="2200" b="1">
                <a:solidFill>
                  <a:srgbClr val="C7A56B"/>
                </a:solidFill>
                <a:latin typeface="Cairo"/>
                <a:cs typeface="Cairo"/>
              </a:rPr>
              <a:t>البرنامج الاقتصادي الأسبوعي الرئيسي</a:t>
            </a:r>
          </a:p>
          <a:p>
            <a:pPr algn="ctr" rtl="1">
              <a:lnSpc>
                <a:spcPct val="135000"/>
              </a:lnSpc>
              <a:spcBef>
                <a:spcPts val="0"/>
              </a:spcBef>
              <a:spcAft>
                <a:spcPts val="1600"/>
              </a:spcAft>
            </a:pPr>
            <a:r>
              <a:rPr sz="1500" b="0">
                <a:solidFill>
                  <a:srgbClr val="FFFFFF"/>
                </a:solidFill>
                <a:latin typeface="Tajawal"/>
                <a:cs typeface="Tajawal"/>
              </a:rPr>
              <a:t>ليس مجرد برنامج حواري آخر… بل منصّة تُطرح فيها أهم القرارات الاقتصادية في المنطقة، وتُناقَش، وتُختبر، ثم تُترجم إلى لغة يفهمها كل مشاهد.</a:t>
            </a:r>
          </a:p>
          <a:p>
            <a:pPr algn="ctr" rtl="1">
              <a:lnSpc>
                <a:spcPct val="115000"/>
              </a:lnSpc>
              <a:spcBef>
                <a:spcPts val="0"/>
              </a:spcBef>
              <a:spcAft>
                <a:spcPts val="0"/>
              </a:spcAft>
            </a:pPr>
            <a:r>
              <a:rPr sz="1350" b="1">
                <a:solidFill>
                  <a:srgbClr val="C7A56B"/>
                </a:solidFill>
                <a:latin typeface="Cairo"/>
                <a:cs typeface="Cairo"/>
              </a:rPr>
              <a:t>يتضمّن فقرة «غرفة القرار»  ·  الحلقة التجريبية: القطاع العقاري</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02</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الفكرة</a:t>
            </a:r>
          </a:p>
        </p:txBody>
      </p:sp>
      <p:sp>
        <p:nvSpPr>
          <p:cNvPr id="10" name="TextBox 9"/>
          <p:cNvSpPr txBox="1"/>
          <p:nvPr/>
        </p:nvSpPr>
        <p:spPr>
          <a:xfrm>
            <a:off x="5836615" y="2011680"/>
            <a:ext cx="566928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4000" b="1">
                <a:solidFill>
                  <a:srgbClr val="1B1A18"/>
                </a:solidFill>
                <a:latin typeface="Cairo"/>
                <a:cs typeface="Cairo"/>
              </a:rPr>
              <a:t>شخصٌ واحد.</a:t>
            </a:r>
          </a:p>
          <a:p>
            <a:pPr algn="r" rtl="1">
              <a:lnSpc>
                <a:spcPct val="102000"/>
              </a:lnSpc>
              <a:spcBef>
                <a:spcPts val="0"/>
              </a:spcBef>
              <a:spcAft>
                <a:spcPts val="200"/>
              </a:spcAft>
            </a:pPr>
            <a:r>
              <a:rPr sz="4000" b="1">
                <a:solidFill>
                  <a:srgbClr val="1B1A18"/>
                </a:solidFill>
                <a:latin typeface="Cairo"/>
                <a:cs typeface="Cairo"/>
              </a:rPr>
              <a:t>قرارٌ واحد.</a:t>
            </a:r>
          </a:p>
          <a:p>
            <a:pPr algn="r" rtl="1">
              <a:lnSpc>
                <a:spcPct val="102000"/>
              </a:lnSpc>
              <a:spcBef>
                <a:spcPts val="0"/>
              </a:spcBef>
              <a:spcAft>
                <a:spcPts val="200"/>
              </a:spcAft>
            </a:pPr>
            <a:r>
              <a:rPr sz="4000" b="1">
                <a:solidFill>
                  <a:srgbClr val="1B1A18"/>
                </a:solidFill>
                <a:latin typeface="Cairo"/>
                <a:cs typeface="Cairo"/>
              </a:rPr>
              <a:t>حوارٌ لا يتنازل.</a:t>
            </a:r>
          </a:p>
        </p:txBody>
      </p:sp>
      <p:sp>
        <p:nvSpPr>
          <p:cNvPr id="11" name="TextBox 10"/>
          <p:cNvSpPr txBox="1"/>
          <p:nvPr/>
        </p:nvSpPr>
        <p:spPr>
          <a:xfrm>
            <a:off x="685800" y="2148840"/>
            <a:ext cx="5212080" cy="3291840"/>
          </a:xfrm>
          <a:prstGeom prst="rect">
            <a:avLst/>
          </a:prstGeom>
          <a:noFill/>
        </p:spPr>
        <p:txBody>
          <a:bodyPr wrap="square" anchor="t" lIns="25400" rIns="25400" tIns="25400" bIns="25400">
            <a:spAutoFit/>
          </a:bodyPr>
          <a:lstStyle/>
          <a:p>
            <a:pPr algn="r" rtl="1">
              <a:lnSpc>
                <a:spcPct val="140000"/>
              </a:lnSpc>
              <a:spcBef>
                <a:spcPts val="0"/>
              </a:spcBef>
              <a:spcAft>
                <a:spcPts val="1200"/>
              </a:spcAft>
            </a:pPr>
            <a:r>
              <a:rPr sz="1550" b="0">
                <a:solidFill>
                  <a:srgbClr val="4A473F"/>
                </a:solidFill>
                <a:latin typeface="Tajawal"/>
                <a:cs typeface="Tajawal"/>
              </a:rPr>
              <a:t>شخصٌ يملك رأس مال حقيقيًّا أو صلاحية قرار فعلية، في حوار عربي معدٍّ وغير متسرّع، يُضغط فيه على الخيارات التي يتخذها فعلًا بشأن المال — لا على نقاط حديثه الإعلامية المُعلَّبة.</a:t>
            </a:r>
          </a:p>
          <a:p>
            <a:pPr algn="r" rtl="1">
              <a:lnSpc>
                <a:spcPct val="135000"/>
              </a:lnSpc>
              <a:spcBef>
                <a:spcPts val="800"/>
              </a:spcBef>
              <a:spcAft>
                <a:spcPts val="0"/>
              </a:spcAft>
            </a:pPr>
            <a:r>
              <a:rPr sz="1300" b="1">
                <a:solidFill>
                  <a:srgbClr val="1B1A18"/>
                </a:solidFill>
                <a:latin typeface="Tajawal"/>
                <a:cs typeface="Tajawal"/>
              </a:rPr>
              <a:t>الوعد للمشاهد:  </a:t>
            </a:r>
            <a:r>
              <a:rPr sz="1300" b="0">
                <a:solidFill>
                  <a:srgbClr val="4A473F"/>
                </a:solidFill>
                <a:latin typeface="Tajawal"/>
                <a:cs typeface="Tajawal"/>
              </a:rPr>
              <a:t>هذه هي الغرفة التي يُفسِّر فيها أصحاب القرار خياراتهم، ويطرح عليهم الأسئلة الصعبة مَن يملك من الثقل ما يُخوِّله ذلك.</a:t>
            </a:r>
          </a:p>
        </p:txBody>
      </p:sp>
      <p:cxnSp>
        <p:nvCxnSpPr>
          <p:cNvPr id="12" name="Connector 11"/>
          <p:cNvCxnSpPr/>
          <p:nvPr/>
        </p:nvCxnSpPr>
        <p:spPr>
          <a:xfrm>
            <a:off x="685800" y="4114800"/>
            <a:ext cx="5212080" cy="0"/>
          </a:xfrm>
          <a:prstGeom prst="bentConnector3">
            <a:avLst/>
          </a:prstGeom>
          <a:ln w="12700">
            <a:solidFill>
              <a:srgbClr val="DAD2C4"/>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03</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لماذا المقدِّمة</a:t>
            </a:r>
          </a:p>
        </p:txBody>
      </p:sp>
      <p:sp>
        <p:nvSpPr>
          <p:cNvPr id="10" name="Rounded Rectangle 9"/>
          <p:cNvSpPr/>
          <p:nvPr/>
        </p:nvSpPr>
        <p:spPr>
          <a:xfrm>
            <a:off x="685800" y="1417320"/>
            <a:ext cx="5212080" cy="4754880"/>
          </a:xfrm>
          <a:prstGeom prst="roundRect">
            <a:avLst>
              <a:gd name="adj" fmla="val 6000"/>
            </a:avLst>
          </a:prstGeom>
          <a:solidFill>
            <a:srgbClr val="EFE9DF"/>
          </a:solidFill>
          <a:ln w="1524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17320"/>
            <a:ext cx="4846320" cy="4754880"/>
          </a:xfrm>
          <a:prstGeom prst="rect">
            <a:avLst/>
          </a:prstGeom>
          <a:noFill/>
        </p:spPr>
        <p:txBody>
          <a:bodyPr wrap="square" anchor="ctr" lIns="25400" rIns="25400" tIns="25400" bIns="25400">
            <a:spAutoFit/>
          </a:bodyPr>
          <a:lstStyle/>
          <a:p>
            <a:pPr algn="ctr" rtl="1">
              <a:lnSpc>
                <a:spcPct val="115000"/>
              </a:lnSpc>
              <a:spcBef>
                <a:spcPts val="0"/>
              </a:spcBef>
              <a:spcAft>
                <a:spcPts val="200"/>
              </a:spcAft>
            </a:pPr>
            <a:r>
              <a:rPr sz="1500" b="1">
                <a:solidFill>
                  <a:srgbClr val="4A473F"/>
                </a:solidFill>
                <a:latin typeface="Cairo"/>
                <a:cs typeface="Cairo"/>
              </a:rPr>
              <a:t>◱  صورة</a:t>
            </a:r>
          </a:p>
          <a:p>
            <a:pPr algn="ctr" rtl="1">
              <a:lnSpc>
                <a:spcPct val="115000"/>
              </a:lnSpc>
              <a:spcBef>
                <a:spcPts val="0"/>
              </a:spcBef>
              <a:spcAft>
                <a:spcPts val="0"/>
              </a:spcAft>
            </a:pPr>
            <a:r>
              <a:rPr sz="1150" b="0">
                <a:solidFill>
                  <a:srgbClr val="4A473F"/>
                </a:solidFill>
                <a:latin typeface="Tajawal"/>
                <a:cs typeface="Tajawal"/>
              </a:rPr>
              <a:t>المقدِّمة — في الاستوديو</a:t>
            </a:r>
          </a:p>
        </p:txBody>
      </p:sp>
      <p:sp>
        <p:nvSpPr>
          <p:cNvPr id="12" name="TextBox 11"/>
          <p:cNvSpPr txBox="1"/>
          <p:nvPr/>
        </p:nvSpPr>
        <p:spPr>
          <a:xfrm>
            <a:off x="6019495" y="1828800"/>
            <a:ext cx="548640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3200" b="1">
                <a:solidFill>
                  <a:srgbClr val="1B1A18"/>
                </a:solidFill>
                <a:latin typeface="Cairo"/>
                <a:cs typeface="Cairo"/>
              </a:rPr>
              <a:t>الميزة الحقيقية</a:t>
            </a:r>
          </a:p>
          <a:p>
            <a:pPr algn="r" rtl="1">
              <a:lnSpc>
                <a:spcPct val="102000"/>
              </a:lnSpc>
              <a:spcBef>
                <a:spcPts val="0"/>
              </a:spcBef>
              <a:spcAft>
                <a:spcPts val="200"/>
              </a:spcAft>
            </a:pPr>
            <a:r>
              <a:rPr sz="3200" b="1">
                <a:solidFill>
                  <a:srgbClr val="1B1A18"/>
                </a:solidFill>
                <a:latin typeface="Cairo"/>
                <a:cs typeface="Cairo"/>
              </a:rPr>
              <a:t>ليست الطاولة…</a:t>
            </a:r>
          </a:p>
          <a:p>
            <a:pPr algn="r" rtl="1">
              <a:lnSpc>
                <a:spcPct val="102000"/>
              </a:lnSpc>
              <a:spcBef>
                <a:spcPts val="0"/>
              </a:spcBef>
              <a:spcAft>
                <a:spcPts val="200"/>
              </a:spcAft>
            </a:pPr>
            <a:r>
              <a:rPr sz="3200" b="1">
                <a:solidFill>
                  <a:srgbClr val="1B1A18"/>
                </a:solidFill>
                <a:latin typeface="Cairo"/>
                <a:cs typeface="Cairo"/>
              </a:rPr>
              <a:t>بل مَن يجلس خلفها.</a:t>
            </a:r>
          </a:p>
        </p:txBody>
      </p:sp>
      <p:sp>
        <p:nvSpPr>
          <p:cNvPr id="13" name="TextBox 12"/>
          <p:cNvSpPr txBox="1"/>
          <p:nvPr/>
        </p:nvSpPr>
        <p:spPr>
          <a:xfrm>
            <a:off x="6019495" y="3840480"/>
            <a:ext cx="5486400" cy="2377440"/>
          </a:xfrm>
          <a:prstGeom prst="rect">
            <a:avLst/>
          </a:prstGeom>
          <a:noFill/>
        </p:spPr>
        <p:txBody>
          <a:bodyPr wrap="square" anchor="t" lIns="25400" rIns="25400" tIns="25400" bIns="25400">
            <a:spAutoFit/>
          </a:bodyPr>
          <a:lstStyle/>
          <a:p>
            <a:pPr algn="r" rtl="1">
              <a:lnSpc>
                <a:spcPct val="140000"/>
              </a:lnSpc>
              <a:spcBef>
                <a:spcPts val="0"/>
              </a:spcBef>
              <a:spcAft>
                <a:spcPts val="0"/>
              </a:spcAft>
            </a:pPr>
            <a:r>
              <a:rPr sz="1450" b="0">
                <a:solidFill>
                  <a:srgbClr val="4A473F"/>
                </a:solidFill>
                <a:latin typeface="Tajawal"/>
                <a:cs typeface="Tajawal"/>
              </a:rPr>
              <a:t>خلفيتها المتعددة التخصصات هي الميزة: ليست المتشددة الاقتصادية ولا المدافعة عن فئة بعينها. لذلك يثق بها الضيوف من مختلف القطاعات في أنها ستكون منصفة، ويراها الجمهور </a:t>
            </a:r>
            <a:r>
              <a:rPr sz="1450" b="1">
                <a:solidFill>
                  <a:srgbClr val="1B1A18"/>
                </a:solidFill>
                <a:latin typeface="Tajawal"/>
                <a:cs typeface="Tajawal"/>
              </a:rPr>
              <a:t>صوتًا مؤسسيًّا لا صوتًا فئويًّا.</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04</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البنية والتشريح</a:t>
            </a:r>
          </a:p>
        </p:txBody>
      </p:sp>
      <p:sp>
        <p:nvSpPr>
          <p:cNvPr id="10" name="TextBox 9"/>
          <p:cNvSpPr txBox="1"/>
          <p:nvPr/>
        </p:nvSpPr>
        <p:spPr>
          <a:xfrm>
            <a:off x="3276295" y="1051560"/>
            <a:ext cx="822960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3200" b="1">
                <a:solidFill>
                  <a:srgbClr val="1B1A18"/>
                </a:solidFill>
                <a:latin typeface="Cairo"/>
                <a:cs typeface="Cairo"/>
              </a:rPr>
              <a:t>أربع حركات متأنية</a:t>
            </a:r>
          </a:p>
        </p:txBody>
      </p:sp>
      <p:sp>
        <p:nvSpPr>
          <p:cNvPr id="11" name="TextBox 10"/>
          <p:cNvSpPr txBox="1"/>
          <p:nvPr/>
        </p:nvSpPr>
        <p:spPr>
          <a:xfrm>
            <a:off x="685800" y="1508760"/>
            <a:ext cx="54864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300" b="0">
                <a:solidFill>
                  <a:srgbClr val="4A473F"/>
                </a:solidFill>
                <a:latin typeface="Tajawal"/>
                <a:cs typeface="Tajawal"/>
              </a:rPr>
              <a:t>حلقة ~24 دقيقة، بأسلوب رقمي أولًا</a:t>
            </a:r>
          </a:p>
        </p:txBody>
      </p:sp>
      <p:cxnSp>
        <p:nvCxnSpPr>
          <p:cNvPr id="12" name="Connector 11"/>
          <p:cNvCxnSpPr/>
          <p:nvPr/>
        </p:nvCxnSpPr>
        <p:spPr>
          <a:xfrm>
            <a:off x="685800" y="2130552"/>
            <a:ext cx="10789919" cy="0"/>
          </a:xfrm>
          <a:prstGeom prst="bentConnector3">
            <a:avLst/>
          </a:prstGeom>
          <a:ln w="25400">
            <a:solidFill>
              <a:srgbClr val="1B1A1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331720"/>
            <a:ext cx="2615184" cy="301752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3000" b="1">
                <a:solidFill>
                  <a:srgbClr val="B01E2E"/>
                </a:solidFill>
                <a:latin typeface="Cairo"/>
                <a:cs typeface="Cairo"/>
              </a:rPr>
              <a:t>90</a:t>
            </a:r>
          </a:p>
          <a:p>
            <a:pPr algn="r" rtl="1">
              <a:lnSpc>
                <a:spcPct val="115000"/>
              </a:lnSpc>
              <a:spcBef>
                <a:spcPts val="0"/>
              </a:spcBef>
              <a:spcAft>
                <a:spcPts val="800"/>
              </a:spcAft>
            </a:pPr>
            <a:r>
              <a:rPr sz="1200" b="0">
                <a:solidFill>
                  <a:srgbClr val="4A473F"/>
                </a:solidFill>
                <a:latin typeface="Tajawal"/>
                <a:cs typeface="Tajawal"/>
              </a:rPr>
              <a:t>ثانية</a:t>
            </a:r>
          </a:p>
          <a:p>
            <a:pPr algn="r" rtl="1">
              <a:lnSpc>
                <a:spcPct val="115000"/>
              </a:lnSpc>
              <a:spcBef>
                <a:spcPts val="0"/>
              </a:spcBef>
              <a:spcAft>
                <a:spcPts val="500"/>
              </a:spcAft>
            </a:pPr>
            <a:r>
              <a:rPr sz="1700" b="1">
                <a:solidFill>
                  <a:srgbClr val="1B1A18"/>
                </a:solidFill>
                <a:latin typeface="Cairo"/>
                <a:cs typeface="Cairo"/>
              </a:rPr>
              <a:t>الموجز</a:t>
            </a:r>
          </a:p>
          <a:p>
            <a:pPr algn="r" rtl="1">
              <a:lnSpc>
                <a:spcPct val="120000"/>
              </a:lnSpc>
              <a:spcBef>
                <a:spcPts val="0"/>
              </a:spcBef>
              <a:spcAft>
                <a:spcPts val="0"/>
              </a:spcAft>
            </a:pPr>
            <a:r>
              <a:rPr sz="1150" b="0">
                <a:solidFill>
                  <a:srgbClr val="4A473F"/>
                </a:solidFill>
                <a:latin typeface="Tajawal"/>
                <a:cs typeface="Tajawal"/>
              </a:rPr>
              <a:t>تُحدِّد المقدِّمة القرار الواحد الذي تتمحور حوله الحلقة — لا السيرة الذاتية، بل الخيار.</a:t>
            </a:r>
          </a:p>
        </p:txBody>
      </p:sp>
      <p:sp>
        <p:nvSpPr>
          <p:cNvPr id="14" name="TextBox 13"/>
          <p:cNvSpPr txBox="1"/>
          <p:nvPr/>
        </p:nvSpPr>
        <p:spPr>
          <a:xfrm>
            <a:off x="3410712" y="2331720"/>
            <a:ext cx="2615184" cy="301752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3000" b="1">
                <a:solidFill>
                  <a:srgbClr val="B01E2E"/>
                </a:solidFill>
                <a:latin typeface="Cairo"/>
                <a:cs typeface="Cairo"/>
              </a:rPr>
              <a:t>16–18</a:t>
            </a:r>
          </a:p>
          <a:p>
            <a:pPr algn="r" rtl="1">
              <a:lnSpc>
                <a:spcPct val="115000"/>
              </a:lnSpc>
              <a:spcBef>
                <a:spcPts val="0"/>
              </a:spcBef>
              <a:spcAft>
                <a:spcPts val="800"/>
              </a:spcAft>
            </a:pPr>
            <a:r>
              <a:rPr sz="1200" b="0">
                <a:solidFill>
                  <a:srgbClr val="4A473F"/>
                </a:solidFill>
                <a:latin typeface="Tajawal"/>
                <a:cs typeface="Tajawal"/>
              </a:rPr>
              <a:t>دقيقة</a:t>
            </a:r>
          </a:p>
          <a:p>
            <a:pPr algn="r" rtl="1">
              <a:lnSpc>
                <a:spcPct val="115000"/>
              </a:lnSpc>
              <a:spcBef>
                <a:spcPts val="0"/>
              </a:spcBef>
              <a:spcAft>
                <a:spcPts val="500"/>
              </a:spcAft>
            </a:pPr>
            <a:r>
              <a:rPr sz="1700" b="1">
                <a:solidFill>
                  <a:srgbClr val="1B1A18"/>
                </a:solidFill>
                <a:latin typeface="Cairo"/>
                <a:cs typeface="Cairo"/>
              </a:rPr>
              <a:t>غرفة القرار</a:t>
            </a:r>
          </a:p>
          <a:p>
            <a:pPr algn="r" rtl="1">
              <a:lnSpc>
                <a:spcPct val="120000"/>
              </a:lnSpc>
              <a:spcBef>
                <a:spcPts val="0"/>
              </a:spcBef>
              <a:spcAft>
                <a:spcPts val="0"/>
              </a:spcAft>
            </a:pPr>
            <a:r>
              <a:rPr sz="1150" b="0">
                <a:solidFill>
                  <a:srgbClr val="4A473F"/>
                </a:solidFill>
                <a:latin typeface="Tajawal"/>
                <a:cs typeface="Tajawal"/>
              </a:rPr>
              <a:t>الفقرة الجوهرية. ضيف واحد، عمق حقيقي، رحلة عبر ثلاثة أو أربعة قرارات فعلية.</a:t>
            </a:r>
          </a:p>
        </p:txBody>
      </p:sp>
      <p:cxnSp>
        <p:nvCxnSpPr>
          <p:cNvPr id="15" name="Connector 14"/>
          <p:cNvCxnSpPr/>
          <p:nvPr/>
        </p:nvCxnSpPr>
        <p:spPr>
          <a:xfrm>
            <a:off x="3355848" y="2331720"/>
            <a:ext cx="914" cy="0"/>
          </a:xfrm>
          <a:prstGeom prst="bentConnector3">
            <a:avLst/>
          </a:prstGeom>
          <a:ln w="12700">
            <a:solidFill>
              <a:srgbClr val="DAD2C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35624" y="2331720"/>
            <a:ext cx="2615184" cy="301752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3000" b="1">
                <a:solidFill>
                  <a:srgbClr val="B01E2E"/>
                </a:solidFill>
                <a:latin typeface="Cairo"/>
                <a:cs typeface="Cairo"/>
              </a:rPr>
              <a:t>3–4</a:t>
            </a:r>
          </a:p>
          <a:p>
            <a:pPr algn="r" rtl="1">
              <a:lnSpc>
                <a:spcPct val="115000"/>
              </a:lnSpc>
              <a:spcBef>
                <a:spcPts val="0"/>
              </a:spcBef>
              <a:spcAft>
                <a:spcPts val="800"/>
              </a:spcAft>
            </a:pPr>
            <a:r>
              <a:rPr sz="1200" b="0">
                <a:solidFill>
                  <a:srgbClr val="4A473F"/>
                </a:solidFill>
                <a:latin typeface="Tajawal"/>
                <a:cs typeface="Tajawal"/>
              </a:rPr>
              <a:t>دقائق</a:t>
            </a:r>
          </a:p>
          <a:p>
            <a:pPr algn="r" rtl="1">
              <a:lnSpc>
                <a:spcPct val="115000"/>
              </a:lnSpc>
              <a:spcBef>
                <a:spcPts val="0"/>
              </a:spcBef>
              <a:spcAft>
                <a:spcPts val="500"/>
              </a:spcAft>
            </a:pPr>
            <a:r>
              <a:rPr sz="1700" b="1">
                <a:solidFill>
                  <a:srgbClr val="1B1A18"/>
                </a:solidFill>
                <a:latin typeface="Cairo"/>
                <a:cs typeface="Cairo"/>
              </a:rPr>
              <a:t>الكرسي المقابل</a:t>
            </a:r>
          </a:p>
          <a:p>
            <a:pPr algn="r" rtl="1">
              <a:lnSpc>
                <a:spcPct val="120000"/>
              </a:lnSpc>
              <a:spcBef>
                <a:spcPts val="0"/>
              </a:spcBef>
              <a:spcAft>
                <a:spcPts val="0"/>
              </a:spcAft>
            </a:pPr>
            <a:r>
              <a:rPr sz="1150" b="0">
                <a:solidFill>
                  <a:srgbClr val="4A473F"/>
                </a:solidFill>
                <a:latin typeface="Tajawal"/>
                <a:cs typeface="Tajawal"/>
              </a:rPr>
              <a:t>يُواجَه الضيف بأقوى رأي معارض، مصدره شخص حقيقي.</a:t>
            </a:r>
          </a:p>
        </p:txBody>
      </p:sp>
      <p:cxnSp>
        <p:nvCxnSpPr>
          <p:cNvPr id="17" name="Connector 16"/>
          <p:cNvCxnSpPr/>
          <p:nvPr/>
        </p:nvCxnSpPr>
        <p:spPr>
          <a:xfrm>
            <a:off x="6080760" y="2331720"/>
            <a:ext cx="914" cy="0"/>
          </a:xfrm>
          <a:prstGeom prst="bentConnector3">
            <a:avLst/>
          </a:prstGeom>
          <a:ln w="12700">
            <a:solidFill>
              <a:srgbClr val="DAD2C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860536" y="2331720"/>
            <a:ext cx="2615184" cy="301752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3000" b="1">
                <a:solidFill>
                  <a:srgbClr val="B01E2E"/>
                </a:solidFill>
                <a:latin typeface="Cairo"/>
                <a:cs typeface="Cairo"/>
              </a:rPr>
              <a:t>90</a:t>
            </a:r>
          </a:p>
          <a:p>
            <a:pPr algn="r" rtl="1">
              <a:lnSpc>
                <a:spcPct val="115000"/>
              </a:lnSpc>
              <a:spcBef>
                <a:spcPts val="0"/>
              </a:spcBef>
              <a:spcAft>
                <a:spcPts val="800"/>
              </a:spcAft>
            </a:pPr>
            <a:r>
              <a:rPr sz="1200" b="0">
                <a:solidFill>
                  <a:srgbClr val="4A473F"/>
                </a:solidFill>
                <a:latin typeface="Tajawal"/>
                <a:cs typeface="Tajawal"/>
              </a:rPr>
              <a:t>ثانية</a:t>
            </a:r>
          </a:p>
          <a:p>
            <a:pPr algn="r" rtl="1">
              <a:lnSpc>
                <a:spcPct val="115000"/>
              </a:lnSpc>
              <a:spcBef>
                <a:spcPts val="0"/>
              </a:spcBef>
              <a:spcAft>
                <a:spcPts val="500"/>
              </a:spcAft>
            </a:pPr>
            <a:r>
              <a:rPr sz="1700" b="1">
                <a:solidFill>
                  <a:srgbClr val="1B1A18"/>
                </a:solidFill>
                <a:latin typeface="Cairo"/>
                <a:cs typeface="Cairo"/>
              </a:rPr>
              <a:t>الخلاصة</a:t>
            </a:r>
          </a:p>
          <a:p>
            <a:pPr algn="r" rtl="1">
              <a:lnSpc>
                <a:spcPct val="120000"/>
              </a:lnSpc>
              <a:spcBef>
                <a:spcPts val="0"/>
              </a:spcBef>
              <a:spcAft>
                <a:spcPts val="0"/>
              </a:spcAft>
            </a:pPr>
            <a:r>
              <a:rPr sz="1150" b="0">
                <a:solidFill>
                  <a:srgbClr val="4A473F"/>
                </a:solidFill>
                <a:latin typeface="Tajawal"/>
                <a:cs typeface="Tajawal"/>
              </a:rPr>
              <a:t>تتجه المقدِّمة نحو الكاميرا وتُترجم الحوار إلى ما يعنيه لمال المشاهد.</a:t>
            </a:r>
          </a:p>
        </p:txBody>
      </p:sp>
      <p:cxnSp>
        <p:nvCxnSpPr>
          <p:cNvPr id="19" name="Connector 18"/>
          <p:cNvCxnSpPr/>
          <p:nvPr/>
        </p:nvCxnSpPr>
        <p:spPr>
          <a:xfrm>
            <a:off x="8805672" y="2331720"/>
            <a:ext cx="914" cy="0"/>
          </a:xfrm>
          <a:prstGeom prst="bentConnector3">
            <a:avLst/>
          </a:prstGeom>
          <a:ln w="12700">
            <a:solidFill>
              <a:srgbClr val="DAD2C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800" y="5806440"/>
            <a:ext cx="10820095" cy="45720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400" b="1">
                <a:solidFill>
                  <a:srgbClr val="1B1A18"/>
                </a:solidFill>
                <a:latin typeface="Cairo"/>
                <a:cs typeface="Cairo"/>
              </a:rPr>
              <a:t>القاعدة الذهبية:  </a:t>
            </a:r>
            <a:r>
              <a:rPr sz="1400" b="1">
                <a:solidFill>
                  <a:srgbClr val="B01E2E"/>
                </a:solidFill>
                <a:latin typeface="Cairo"/>
                <a:cs typeface="Cairo"/>
              </a:rPr>
              <a:t>لا ينتهي البرنامج أبدًا بالضيف — بل ينتهي بك أنت.</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05</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الميكانيكية المميّزة</a:t>
            </a:r>
          </a:p>
        </p:txBody>
      </p:sp>
      <p:sp>
        <p:nvSpPr>
          <p:cNvPr id="10" name="Rounded Rectangle 9"/>
          <p:cNvSpPr/>
          <p:nvPr/>
        </p:nvSpPr>
        <p:spPr>
          <a:xfrm>
            <a:off x="6659575" y="1554480"/>
            <a:ext cx="4846320" cy="4480560"/>
          </a:xfrm>
          <a:prstGeom prst="roundRect">
            <a:avLst>
              <a:gd name="adj" fmla="val 6000"/>
            </a:avLst>
          </a:prstGeom>
          <a:solidFill>
            <a:srgbClr val="EFE9DF"/>
          </a:solidFill>
          <a:ln w="1524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42455" y="1554480"/>
            <a:ext cx="4480559" cy="4480560"/>
          </a:xfrm>
          <a:prstGeom prst="rect">
            <a:avLst/>
          </a:prstGeom>
          <a:noFill/>
        </p:spPr>
        <p:txBody>
          <a:bodyPr wrap="square" anchor="ctr" lIns="25400" rIns="25400" tIns="25400" bIns="25400">
            <a:spAutoFit/>
          </a:bodyPr>
          <a:lstStyle/>
          <a:p>
            <a:pPr algn="ctr" rtl="1">
              <a:lnSpc>
                <a:spcPct val="115000"/>
              </a:lnSpc>
              <a:spcBef>
                <a:spcPts val="0"/>
              </a:spcBef>
              <a:spcAft>
                <a:spcPts val="200"/>
              </a:spcAft>
            </a:pPr>
            <a:r>
              <a:rPr sz="1500" b="1">
                <a:solidFill>
                  <a:srgbClr val="4A473F"/>
                </a:solidFill>
                <a:latin typeface="Cairo"/>
                <a:cs typeface="Cairo"/>
              </a:rPr>
              <a:t>◱  صورة</a:t>
            </a:r>
          </a:p>
          <a:p>
            <a:pPr algn="ctr" rtl="1">
              <a:lnSpc>
                <a:spcPct val="115000"/>
              </a:lnSpc>
              <a:spcBef>
                <a:spcPts val="0"/>
              </a:spcBef>
              <a:spcAft>
                <a:spcPts val="0"/>
              </a:spcAft>
            </a:pPr>
            <a:r>
              <a:rPr sz="1150" b="0">
                <a:solidFill>
                  <a:srgbClr val="4A473F"/>
                </a:solidFill>
                <a:latin typeface="Tajawal"/>
                <a:cs typeface="Tajawal"/>
              </a:rPr>
              <a:t>الكرسي المقابل — لحظة متأصّلة في البرنامج</a:t>
            </a:r>
          </a:p>
        </p:txBody>
      </p:sp>
      <p:sp>
        <p:nvSpPr>
          <p:cNvPr id="12" name="TextBox 11"/>
          <p:cNvSpPr txBox="1"/>
          <p:nvPr/>
        </p:nvSpPr>
        <p:spPr>
          <a:xfrm>
            <a:off x="685800" y="1371600"/>
            <a:ext cx="566928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3800" b="1">
                <a:solidFill>
                  <a:srgbClr val="1B1A18"/>
                </a:solidFill>
                <a:latin typeface="Cairo"/>
                <a:cs typeface="Cairo"/>
              </a:rPr>
              <a:t>الكرسي المقابل</a:t>
            </a:r>
          </a:p>
        </p:txBody>
      </p:sp>
      <p:sp>
        <p:nvSpPr>
          <p:cNvPr id="13" name="TextBox 12"/>
          <p:cNvSpPr txBox="1"/>
          <p:nvPr/>
        </p:nvSpPr>
        <p:spPr>
          <a:xfrm>
            <a:off x="685800" y="2286000"/>
            <a:ext cx="5669280" cy="1645920"/>
          </a:xfrm>
          <a:prstGeom prst="rect">
            <a:avLst/>
          </a:prstGeom>
          <a:noFill/>
        </p:spPr>
        <p:txBody>
          <a:bodyPr wrap="square" anchor="t" lIns="25400" rIns="25400" tIns="25400" bIns="25400">
            <a:spAutoFit/>
          </a:bodyPr>
          <a:lstStyle/>
          <a:p>
            <a:pPr algn="r" rtl="1">
              <a:lnSpc>
                <a:spcPct val="135000"/>
              </a:lnSpc>
              <a:spcBef>
                <a:spcPts val="0"/>
              </a:spcBef>
              <a:spcAft>
                <a:spcPts val="0"/>
              </a:spcAft>
            </a:pPr>
            <a:r>
              <a:rPr sz="1350" b="0">
                <a:solidFill>
                  <a:srgbClr val="4A473F"/>
                </a:solidFill>
                <a:latin typeface="Tajawal"/>
                <a:cs typeface="Tajawal"/>
              </a:rPr>
              <a:t>قبل كل تسجيل، يجمع الفريق تحديًّا حادًّا موجَّهًا للضيف من طرف مقابل حقيقي — منافس، محلل متشكك، مؤسِّس احترق، أو مواطن تأثر بالقرار. في منتصف المقابلة تطرحه المقدِّمة مباشرةً وتُلزم الضيف بالرد أمام الكاميرا.</a:t>
            </a:r>
          </a:p>
        </p:txBody>
      </p:sp>
      <p:sp>
        <p:nvSpPr>
          <p:cNvPr id="14" name="Rounded Rectangle 13"/>
          <p:cNvSpPr/>
          <p:nvPr/>
        </p:nvSpPr>
        <p:spPr>
          <a:xfrm>
            <a:off x="685800" y="3977639"/>
            <a:ext cx="1773936" cy="1874519"/>
          </a:xfrm>
          <a:prstGeom prst="roundRect">
            <a:avLst>
              <a:gd name="adj" fmla="val 6000"/>
            </a:avLst>
          </a:prstGeom>
          <a:solidFill>
            <a:srgbClr val="EFE9DF"/>
          </a:solidFill>
          <a:ln w="12700">
            <a:solidFill>
              <a:srgbClr val="E5DD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4123944"/>
            <a:ext cx="1371600" cy="1600199"/>
          </a:xfrm>
          <a:prstGeom prst="rect">
            <a:avLst/>
          </a:prstGeom>
          <a:noFill/>
        </p:spPr>
        <p:txBody>
          <a:bodyPr wrap="square" anchor="t" lIns="25400" rIns="25400" tIns="25400" bIns="25400">
            <a:spAutoFit/>
          </a:bodyPr>
          <a:lstStyle/>
          <a:p>
            <a:pPr algn="r" rtl="1">
              <a:lnSpc>
                <a:spcPct val="115000"/>
              </a:lnSpc>
              <a:spcBef>
                <a:spcPts val="0"/>
              </a:spcBef>
              <a:spcAft>
                <a:spcPts val="200"/>
              </a:spcAft>
            </a:pPr>
            <a:r>
              <a:rPr sz="1300" b="1">
                <a:solidFill>
                  <a:srgbClr val="B01E2E"/>
                </a:solidFill>
                <a:latin typeface="Cairo"/>
                <a:cs typeface="Cairo"/>
              </a:rPr>
              <a:t>01</a:t>
            </a:r>
          </a:p>
          <a:p>
            <a:pPr algn="r" rtl="1">
              <a:lnSpc>
                <a:spcPct val="105000"/>
              </a:lnSpc>
              <a:spcBef>
                <a:spcPts val="0"/>
              </a:spcBef>
              <a:spcAft>
                <a:spcPts val="400"/>
              </a:spcAft>
            </a:pPr>
            <a:r>
              <a:rPr sz="1550" b="1">
                <a:solidFill>
                  <a:srgbClr val="1B1A18"/>
                </a:solidFill>
                <a:latin typeface="Cairo"/>
                <a:cs typeface="Cairo"/>
              </a:rPr>
              <a:t>احتكاك حقيقي</a:t>
            </a:r>
          </a:p>
          <a:p>
            <a:pPr algn="r" rtl="1">
              <a:lnSpc>
                <a:spcPct val="115000"/>
              </a:lnSpc>
              <a:spcBef>
                <a:spcPts val="0"/>
              </a:spcBef>
              <a:spcAft>
                <a:spcPts val="0"/>
              </a:spcAft>
            </a:pPr>
            <a:r>
              <a:rPr sz="1150" b="0">
                <a:solidFill>
                  <a:srgbClr val="4A473F"/>
                </a:solidFill>
                <a:latin typeface="Tajawal"/>
                <a:cs typeface="Tajawal"/>
              </a:rPr>
              <a:t>اللحظة التي تجعل المقاطع تنتشر.</a:t>
            </a:r>
          </a:p>
        </p:txBody>
      </p:sp>
      <p:sp>
        <p:nvSpPr>
          <p:cNvPr id="16" name="Rounded Rectangle 15"/>
          <p:cNvSpPr/>
          <p:nvPr/>
        </p:nvSpPr>
        <p:spPr>
          <a:xfrm>
            <a:off x="2569464" y="3977639"/>
            <a:ext cx="1773936" cy="1874519"/>
          </a:xfrm>
          <a:prstGeom prst="roundRect">
            <a:avLst>
              <a:gd name="adj" fmla="val 6000"/>
            </a:avLst>
          </a:prstGeom>
          <a:solidFill>
            <a:srgbClr val="EFE9DF"/>
          </a:solidFill>
          <a:ln w="12700">
            <a:solidFill>
              <a:srgbClr val="E5DD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70632" y="4123944"/>
            <a:ext cx="1371600" cy="1600199"/>
          </a:xfrm>
          <a:prstGeom prst="rect">
            <a:avLst/>
          </a:prstGeom>
          <a:noFill/>
        </p:spPr>
        <p:txBody>
          <a:bodyPr wrap="square" anchor="t" lIns="25400" rIns="25400" tIns="25400" bIns="25400">
            <a:spAutoFit/>
          </a:bodyPr>
          <a:lstStyle/>
          <a:p>
            <a:pPr algn="r" rtl="1">
              <a:lnSpc>
                <a:spcPct val="115000"/>
              </a:lnSpc>
              <a:spcBef>
                <a:spcPts val="0"/>
              </a:spcBef>
              <a:spcAft>
                <a:spcPts val="200"/>
              </a:spcAft>
            </a:pPr>
            <a:r>
              <a:rPr sz="1300" b="1">
                <a:solidFill>
                  <a:srgbClr val="B01E2E"/>
                </a:solidFill>
                <a:latin typeface="Cairo"/>
                <a:cs typeface="Cairo"/>
              </a:rPr>
              <a:t>02</a:t>
            </a:r>
          </a:p>
          <a:p>
            <a:pPr algn="r" rtl="1">
              <a:lnSpc>
                <a:spcPct val="105000"/>
              </a:lnSpc>
              <a:spcBef>
                <a:spcPts val="0"/>
              </a:spcBef>
              <a:spcAft>
                <a:spcPts val="400"/>
              </a:spcAft>
            </a:pPr>
            <a:r>
              <a:rPr sz="1550" b="1">
                <a:solidFill>
                  <a:srgbClr val="1B1A18"/>
                </a:solidFill>
                <a:latin typeface="Cairo"/>
                <a:cs typeface="Cairo"/>
              </a:rPr>
              <a:t>استقلالية تحريرية</a:t>
            </a:r>
          </a:p>
          <a:p>
            <a:pPr algn="r" rtl="1">
              <a:lnSpc>
                <a:spcPct val="115000"/>
              </a:lnSpc>
              <a:spcBef>
                <a:spcPts val="0"/>
              </a:spcBef>
              <a:spcAft>
                <a:spcPts val="0"/>
              </a:spcAft>
            </a:pPr>
            <a:r>
              <a:rPr sz="1150" b="0">
                <a:solidFill>
                  <a:srgbClr val="4A473F"/>
                </a:solidFill>
                <a:latin typeface="Tajawal"/>
                <a:cs typeface="Tajawal"/>
              </a:rPr>
              <a:t>مؤشر يثبت أن CNNBA غير مُستتبَعة.</a:t>
            </a:r>
          </a:p>
        </p:txBody>
      </p:sp>
      <p:sp>
        <p:nvSpPr>
          <p:cNvPr id="18" name="Rounded Rectangle 17"/>
          <p:cNvSpPr/>
          <p:nvPr/>
        </p:nvSpPr>
        <p:spPr>
          <a:xfrm>
            <a:off x="4453128" y="3977639"/>
            <a:ext cx="1773936" cy="1874519"/>
          </a:xfrm>
          <a:prstGeom prst="roundRect">
            <a:avLst>
              <a:gd name="adj" fmla="val 6000"/>
            </a:avLst>
          </a:prstGeom>
          <a:solidFill>
            <a:srgbClr val="EFE9DF"/>
          </a:solidFill>
          <a:ln w="12700">
            <a:solidFill>
              <a:srgbClr val="E5DD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54296" y="4123944"/>
            <a:ext cx="1371600" cy="1600199"/>
          </a:xfrm>
          <a:prstGeom prst="rect">
            <a:avLst/>
          </a:prstGeom>
          <a:noFill/>
        </p:spPr>
        <p:txBody>
          <a:bodyPr wrap="square" anchor="t" lIns="25400" rIns="25400" tIns="25400" bIns="25400">
            <a:spAutoFit/>
          </a:bodyPr>
          <a:lstStyle/>
          <a:p>
            <a:pPr algn="r" rtl="1">
              <a:lnSpc>
                <a:spcPct val="115000"/>
              </a:lnSpc>
              <a:spcBef>
                <a:spcPts val="0"/>
              </a:spcBef>
              <a:spcAft>
                <a:spcPts val="200"/>
              </a:spcAft>
            </a:pPr>
            <a:r>
              <a:rPr sz="1300" b="1">
                <a:solidFill>
                  <a:srgbClr val="B01E2E"/>
                </a:solidFill>
                <a:latin typeface="Cairo"/>
                <a:cs typeface="Cairo"/>
              </a:rPr>
              <a:t>03</a:t>
            </a:r>
          </a:p>
          <a:p>
            <a:pPr algn="r" rtl="1">
              <a:lnSpc>
                <a:spcPct val="105000"/>
              </a:lnSpc>
              <a:spcBef>
                <a:spcPts val="0"/>
              </a:spcBef>
              <a:spcAft>
                <a:spcPts val="400"/>
              </a:spcAft>
            </a:pPr>
            <a:r>
              <a:rPr sz="1550" b="1">
                <a:solidFill>
                  <a:srgbClr val="1B1A18"/>
                </a:solidFill>
                <a:latin typeface="Cairo"/>
                <a:cs typeface="Cairo"/>
              </a:rPr>
              <a:t>إيقاع مميّز</a:t>
            </a:r>
          </a:p>
          <a:p>
            <a:pPr algn="r" rtl="1">
              <a:lnSpc>
                <a:spcPct val="115000"/>
              </a:lnSpc>
              <a:spcBef>
                <a:spcPts val="0"/>
              </a:spcBef>
              <a:spcAft>
                <a:spcPts val="0"/>
              </a:spcAft>
            </a:pPr>
            <a:r>
              <a:rPr sz="1150" b="0">
                <a:solidFill>
                  <a:srgbClr val="4A473F"/>
                </a:solidFill>
                <a:latin typeface="Tajawal"/>
                <a:cs typeface="Tajawal"/>
              </a:rPr>
              <a:t>«ماذا قالوا هذا الأسبوع؟» سببٌ للمتابعة.</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06</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The Maya Moment · ماذا يعني ذلك بالنسبة لك؟</a:t>
            </a:r>
          </a:p>
        </p:txBody>
      </p:sp>
      <p:sp>
        <p:nvSpPr>
          <p:cNvPr id="10" name="Rounded Rectangle 9"/>
          <p:cNvSpPr/>
          <p:nvPr/>
        </p:nvSpPr>
        <p:spPr>
          <a:xfrm>
            <a:off x="685800" y="1371600"/>
            <a:ext cx="10820095" cy="3017520"/>
          </a:xfrm>
          <a:prstGeom prst="roundRect">
            <a:avLst>
              <a:gd name="adj" fmla="val 6000"/>
            </a:avLst>
          </a:prstGeom>
          <a:solidFill>
            <a:srgbClr val="1B1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691640"/>
            <a:ext cx="9997135" cy="2468880"/>
          </a:xfrm>
          <a:prstGeom prst="rect">
            <a:avLst/>
          </a:prstGeom>
          <a:noFill/>
        </p:spPr>
        <p:txBody>
          <a:bodyPr wrap="square" anchor="ctr" lIns="25400" rIns="25400" tIns="25400" bIns="25400">
            <a:spAutoFit/>
          </a:bodyPr>
          <a:lstStyle/>
          <a:p>
            <a:pPr algn="r" rtl="1">
              <a:lnSpc>
                <a:spcPct val="150000"/>
              </a:lnSpc>
              <a:spcBef>
                <a:spcPts val="0"/>
              </a:spcBef>
              <a:spcAft>
                <a:spcPts val="1000"/>
              </a:spcAft>
            </a:pPr>
            <a:r>
              <a:rPr sz="1900" b="1">
                <a:solidFill>
                  <a:srgbClr val="FFFFFF"/>
                </a:solidFill>
                <a:latin typeface="Cairo"/>
                <a:cs typeface="Cairo"/>
              </a:rPr>
              <a:t>«في الاقتصاد، ليست كل زيادة في الأسعار خبراً جيداً، وليست كل موجة صعود فقاعة. التحدي الحقيقي هو التوازن بين حماية قيمة الأصول، والحفاظ على القدرة على السكن والاستثمار. فهذا التوازن هو ما يصنع سوقاً عقارياً مستداماً، لا مجرد سوق يحقق أرقاماً قياسية.»</a:t>
            </a:r>
          </a:p>
          <a:p>
            <a:pPr algn="r" rtl="1">
              <a:lnSpc>
                <a:spcPct val="115000"/>
              </a:lnSpc>
              <a:spcBef>
                <a:spcPts val="0"/>
              </a:spcBef>
              <a:spcAft>
                <a:spcPts val="0"/>
              </a:spcAft>
            </a:pPr>
            <a:r>
              <a:rPr sz="1300" b="1">
                <a:solidFill>
                  <a:srgbClr val="C7A56B"/>
                </a:solidFill>
                <a:latin typeface="Cairo"/>
                <a:cs typeface="Cairo"/>
              </a:rPr>
              <a:t>— لحظة مايا، تُختم دائمًا بالمشاهد لا بالضيف</a:t>
            </a:r>
          </a:p>
        </p:txBody>
      </p:sp>
      <p:sp>
        <p:nvSpPr>
          <p:cNvPr id="12" name="TextBox 11"/>
          <p:cNvSpPr txBox="1"/>
          <p:nvPr/>
        </p:nvSpPr>
        <p:spPr>
          <a:xfrm>
            <a:off x="685800" y="4617720"/>
            <a:ext cx="10820095" cy="1645920"/>
          </a:xfrm>
          <a:prstGeom prst="rect">
            <a:avLst/>
          </a:prstGeom>
          <a:noFill/>
        </p:spPr>
        <p:txBody>
          <a:bodyPr wrap="square" anchor="t" lIns="25400" rIns="25400" tIns="25400" bIns="25400">
            <a:spAutoFit/>
          </a:bodyPr>
          <a:lstStyle/>
          <a:p>
            <a:pPr algn="r" rtl="1">
              <a:lnSpc>
                <a:spcPct val="135000"/>
              </a:lnSpc>
              <a:spcBef>
                <a:spcPts val="0"/>
              </a:spcBef>
              <a:spcAft>
                <a:spcPts val="0"/>
              </a:spcAft>
            </a:pPr>
            <a:r>
              <a:rPr sz="1300" b="0">
                <a:solidFill>
                  <a:srgbClr val="4A473F"/>
                </a:solidFill>
                <a:latin typeface="Tajawal"/>
                <a:cs typeface="Tajawal"/>
              </a:rPr>
              <a:t>بعد المقابلة، تتوجه المقدِّمة مباشرة إلى الكاميرا — دون ضيف، دون نقاش — لتشرح بلغة بسيطة الأثر العملي على المستثمر، رائد الأعمال، صاحب الشركة، المستهلك، والاقتصاد عمومًا. لا تنحاز، ولا تكرّر كلام الضيف، بل تربط النقاش بفكرة اقتصادية أكبر.</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07</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الحلقة التجريبية · Pilot</a:t>
            </a:r>
          </a:p>
        </p:txBody>
      </p:sp>
      <p:sp>
        <p:nvSpPr>
          <p:cNvPr id="10" name="Rounded Rectangle 9"/>
          <p:cNvSpPr/>
          <p:nvPr/>
        </p:nvSpPr>
        <p:spPr>
          <a:xfrm>
            <a:off x="8671255" y="1371600"/>
            <a:ext cx="2834640" cy="384048"/>
          </a:xfrm>
          <a:prstGeom prst="roundRect">
            <a:avLst>
              <a:gd name="adj" fmla="val 6000"/>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71255" y="1371600"/>
            <a:ext cx="2834640" cy="384048"/>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200" b="1">
                <a:solidFill>
                  <a:srgbClr val="FFFFFF"/>
                </a:solidFill>
                <a:latin typeface="Cairo"/>
                <a:cs typeface="Cairo"/>
              </a:rPr>
              <a:t>الحلقة الأولى — القطاع العقاري</a:t>
            </a:r>
          </a:p>
        </p:txBody>
      </p:sp>
      <p:sp>
        <p:nvSpPr>
          <p:cNvPr id="12" name="TextBox 11"/>
          <p:cNvSpPr txBox="1"/>
          <p:nvPr/>
        </p:nvSpPr>
        <p:spPr>
          <a:xfrm>
            <a:off x="6019495" y="1965960"/>
            <a:ext cx="548640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2700" b="1">
                <a:solidFill>
                  <a:srgbClr val="1B1A18"/>
                </a:solidFill>
                <a:latin typeface="Cairo"/>
                <a:cs typeface="Cairo"/>
              </a:rPr>
              <a:t>من دبي إلى الرياض…</a:t>
            </a:r>
          </a:p>
          <a:p>
            <a:pPr algn="r" rtl="1">
              <a:lnSpc>
                <a:spcPct val="102000"/>
              </a:lnSpc>
              <a:spcBef>
                <a:spcPts val="0"/>
              </a:spcBef>
              <a:spcAft>
                <a:spcPts val="200"/>
              </a:spcAft>
            </a:pPr>
            <a:r>
              <a:rPr sz="2700" b="1">
                <a:solidFill>
                  <a:srgbClr val="1B1A18"/>
                </a:solidFill>
                <a:latin typeface="Cairo"/>
                <a:cs typeface="Cairo"/>
              </a:rPr>
              <a:t>ومن أبوظبي إلى القاهرة.</a:t>
            </a:r>
          </a:p>
        </p:txBody>
      </p:sp>
      <p:sp>
        <p:nvSpPr>
          <p:cNvPr id="13" name="TextBox 12"/>
          <p:cNvSpPr txBox="1"/>
          <p:nvPr/>
        </p:nvSpPr>
        <p:spPr>
          <a:xfrm>
            <a:off x="6019495" y="3383280"/>
            <a:ext cx="5486400" cy="2560320"/>
          </a:xfrm>
          <a:prstGeom prst="rect">
            <a:avLst/>
          </a:prstGeom>
          <a:noFill/>
        </p:spPr>
        <p:txBody>
          <a:bodyPr wrap="square" anchor="t" lIns="25400" rIns="25400" tIns="25400" bIns="25400">
            <a:spAutoFit/>
          </a:bodyPr>
          <a:lstStyle/>
          <a:p>
            <a:pPr algn="r" rtl="1">
              <a:lnSpc>
                <a:spcPct val="140000"/>
              </a:lnSpc>
              <a:spcBef>
                <a:spcPts val="0"/>
              </a:spcBef>
              <a:spcAft>
                <a:spcPts val="1000"/>
              </a:spcAft>
            </a:pPr>
            <a:r>
              <a:rPr sz="1400" b="0">
                <a:solidFill>
                  <a:srgbClr val="4A473F"/>
                </a:solidFill>
                <a:latin typeface="Tajawal"/>
                <a:cs typeface="Tajawal"/>
              </a:rPr>
              <a:t>العقار لم يعد يهم المستثمرين فقط، بل كل شخص يبحث عن منزل، أو يدفع إيجارًا، أو يفكّر في أول تملّك. السؤال ليس «ماذا يحدث في السوق؟» بل: </a:t>
            </a:r>
            <a:r>
              <a:rPr sz="1400" b="1">
                <a:solidFill>
                  <a:srgbClr val="B01E2E"/>
                </a:solidFill>
                <a:latin typeface="Tajawal"/>
                <a:cs typeface="Tajawal"/>
              </a:rPr>
              <a:t>كيف يؤثر ذلك على بيتك، وإيجارك، وفرصك؟</a:t>
            </a:r>
          </a:p>
          <a:p>
            <a:pPr algn="r" rtl="1">
              <a:lnSpc>
                <a:spcPct val="115000"/>
              </a:lnSpc>
              <a:spcBef>
                <a:spcPts val="0"/>
              </a:spcBef>
              <a:spcAft>
                <a:spcPts val="0"/>
              </a:spcAft>
            </a:pPr>
            <a:r>
              <a:rPr sz="1150" b="0">
                <a:solidFill>
                  <a:srgbClr val="4A473F"/>
                </a:solidFill>
                <a:latin typeface="Tajawal"/>
                <a:cs typeface="Tajawal"/>
              </a:rPr>
              <a:t>الضيف المحتمل: العبار / بن غاطي / سجواني — أحد أبرز قادة القطاع.</a:t>
            </a:r>
          </a:p>
        </p:txBody>
      </p:sp>
      <p:sp>
        <p:nvSpPr>
          <p:cNvPr id="14" name="Rounded Rectangle 13"/>
          <p:cNvSpPr/>
          <p:nvPr/>
        </p:nvSpPr>
        <p:spPr>
          <a:xfrm>
            <a:off x="685800" y="2011680"/>
            <a:ext cx="5029200" cy="1234440"/>
          </a:xfrm>
          <a:prstGeom prst="roundRect">
            <a:avLst>
              <a:gd name="adj" fmla="val 6000"/>
            </a:avLst>
          </a:prstGeom>
          <a:solidFill>
            <a:srgbClr val="EFE9DF"/>
          </a:solidFill>
          <a:ln w="12700">
            <a:solidFill>
              <a:srgbClr val="E5DD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121408"/>
            <a:ext cx="4572000" cy="1005840"/>
          </a:xfrm>
          <a:prstGeom prst="rect">
            <a:avLst/>
          </a:prstGeom>
          <a:noFill/>
        </p:spPr>
        <p:txBody>
          <a:bodyPr wrap="square" anchor="ctr" lIns="25400" rIns="25400" tIns="25400" bIns="25400">
            <a:spAutoFit/>
          </a:bodyPr>
          <a:lstStyle/>
          <a:p>
            <a:pPr algn="r" rtl="1">
              <a:lnSpc>
                <a:spcPct val="110000"/>
              </a:lnSpc>
              <a:spcBef>
                <a:spcPts val="0"/>
              </a:spcBef>
              <a:spcAft>
                <a:spcPts val="0"/>
              </a:spcAft>
            </a:pPr>
            <a:r>
              <a:rPr sz="1400" b="1">
                <a:solidFill>
                  <a:srgbClr val="B01E2E"/>
                </a:solidFill>
                <a:latin typeface="Cairo"/>
                <a:cs typeface="Cairo"/>
              </a:rPr>
              <a:t>Q1   </a:t>
            </a:r>
            <a:r>
              <a:rPr sz="1400" b="0">
                <a:solidFill>
                  <a:srgbClr val="4A473F"/>
                </a:solidFill>
                <a:latin typeface="Cairo"/>
                <a:cs typeface="Cairo"/>
              </a:rPr>
              <a:t>حجم الاستثمار العقاري في الربع الأول</a:t>
            </a:r>
          </a:p>
        </p:txBody>
      </p:sp>
      <p:sp>
        <p:nvSpPr>
          <p:cNvPr id="16" name="Rounded Rectangle 15"/>
          <p:cNvSpPr/>
          <p:nvPr/>
        </p:nvSpPr>
        <p:spPr>
          <a:xfrm>
            <a:off x="685800" y="3383280"/>
            <a:ext cx="5029200" cy="1234440"/>
          </a:xfrm>
          <a:prstGeom prst="roundRect">
            <a:avLst>
              <a:gd name="adj" fmla="val 6000"/>
            </a:avLst>
          </a:prstGeom>
          <a:solidFill>
            <a:srgbClr val="EFE9DF"/>
          </a:solidFill>
          <a:ln w="12700">
            <a:solidFill>
              <a:srgbClr val="E5DD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493008"/>
            <a:ext cx="4572000" cy="1005840"/>
          </a:xfrm>
          <a:prstGeom prst="rect">
            <a:avLst/>
          </a:prstGeom>
          <a:noFill/>
        </p:spPr>
        <p:txBody>
          <a:bodyPr wrap="square" anchor="ctr" lIns="25400" rIns="25400" tIns="25400" bIns="25400">
            <a:spAutoFit/>
          </a:bodyPr>
          <a:lstStyle/>
          <a:p>
            <a:pPr algn="r" rtl="1">
              <a:lnSpc>
                <a:spcPct val="110000"/>
              </a:lnSpc>
              <a:spcBef>
                <a:spcPts val="0"/>
              </a:spcBef>
              <a:spcAft>
                <a:spcPts val="0"/>
              </a:spcAft>
            </a:pPr>
            <a:r>
              <a:rPr sz="1400" b="1">
                <a:solidFill>
                  <a:srgbClr val="B01E2E"/>
                </a:solidFill>
                <a:latin typeface="Cairo"/>
                <a:cs typeface="Cairo"/>
              </a:rPr>
              <a:t>٪   </a:t>
            </a:r>
            <a:r>
              <a:rPr sz="1400" b="0">
                <a:solidFill>
                  <a:srgbClr val="4A473F"/>
                </a:solidFill>
                <a:latin typeface="Cairo"/>
                <a:cs typeface="Cairo"/>
              </a:rPr>
              <a:t>نسبة القروض العقارية من تمويلات البنوك</a:t>
            </a:r>
          </a:p>
        </p:txBody>
      </p:sp>
      <p:sp>
        <p:nvSpPr>
          <p:cNvPr id="18" name="Rounded Rectangle 17"/>
          <p:cNvSpPr/>
          <p:nvPr/>
        </p:nvSpPr>
        <p:spPr>
          <a:xfrm>
            <a:off x="685800" y="4754880"/>
            <a:ext cx="5029200" cy="1234440"/>
          </a:xfrm>
          <a:prstGeom prst="roundRect">
            <a:avLst>
              <a:gd name="adj" fmla="val 6000"/>
            </a:avLst>
          </a:prstGeom>
          <a:solidFill>
            <a:srgbClr val="EFE9DF"/>
          </a:solidFill>
          <a:ln w="12700">
            <a:solidFill>
              <a:srgbClr val="E5DD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864608"/>
            <a:ext cx="4572000" cy="1005840"/>
          </a:xfrm>
          <a:prstGeom prst="rect">
            <a:avLst/>
          </a:prstGeom>
          <a:noFill/>
        </p:spPr>
        <p:txBody>
          <a:bodyPr wrap="square" anchor="ctr" lIns="25400" rIns="25400" tIns="25400" bIns="25400">
            <a:spAutoFit/>
          </a:bodyPr>
          <a:lstStyle/>
          <a:p>
            <a:pPr algn="r" rtl="1">
              <a:lnSpc>
                <a:spcPct val="110000"/>
              </a:lnSpc>
              <a:spcBef>
                <a:spcPts val="0"/>
              </a:spcBef>
              <a:spcAft>
                <a:spcPts val="0"/>
              </a:spcAft>
            </a:pPr>
            <a:r>
              <a:rPr sz="1400" b="1">
                <a:solidFill>
                  <a:srgbClr val="B01E2E"/>
                </a:solidFill>
                <a:latin typeface="Cairo"/>
                <a:cs typeface="Cairo"/>
              </a:rPr>
              <a:t>↑↓   </a:t>
            </a:r>
            <a:r>
              <a:rPr sz="1400" b="0">
                <a:solidFill>
                  <a:srgbClr val="4A473F"/>
                </a:solidFill>
                <a:latin typeface="Cairo"/>
                <a:cs typeface="Cairo"/>
              </a:rPr>
              <a:t>ارتفاع الإيجارات أو تراجعها</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08</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رحلة الحلقة · Runsheet</a:t>
            </a:r>
          </a:p>
        </p:txBody>
      </p:sp>
      <p:sp>
        <p:nvSpPr>
          <p:cNvPr id="10" name="TextBox 9"/>
          <p:cNvSpPr txBox="1"/>
          <p:nvPr/>
        </p:nvSpPr>
        <p:spPr>
          <a:xfrm>
            <a:off x="685800" y="1051560"/>
            <a:ext cx="731520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2800" b="1">
                <a:solidFill>
                  <a:srgbClr val="1B1A18"/>
                </a:solidFill>
                <a:latin typeface="Cairo"/>
                <a:cs typeface="Cairo"/>
              </a:rPr>
              <a:t>تشريح الحلقة التجريبية</a:t>
            </a:r>
          </a:p>
        </p:txBody>
      </p:sp>
      <p:graphicFrame>
        <p:nvGraphicFramePr>
          <p:cNvPr id="11" name="Table 10"/>
          <p:cNvGraphicFramePr>
            <a:graphicFrameLocks noGrp="1"/>
          </p:cNvGraphicFramePr>
          <p:nvPr/>
        </p:nvGraphicFramePr>
        <p:xfrm>
          <a:off x="685800" y="1737360"/>
          <a:ext cx="10817352" cy="1463040"/>
        </p:xfrm>
        <a:graphic>
          <a:graphicData uri="http://schemas.openxmlformats.org/drawingml/2006/table">
            <a:tbl>
              <a:tblPr bandRow="1">
                <a:tableStyleId>{5C22544A-7EE6-4342-B048-85BDC9FD1C3A}</a:tableStyleId>
              </a:tblPr>
              <a:tblGrid>
                <a:gridCol w="6400800"/>
                <a:gridCol w="2651760"/>
                <a:gridCol w="1764792"/>
              </a:tblGrid>
              <a:tr h="182880">
                <a:tc>
                  <a:txBody>
                    <a:bodyPr wrap="square"/>
                    <a:lstStyle/>
                    <a:p>
                      <a:pPr algn="r" rtl="1">
                        <a:lnSpc>
                          <a:spcPct val="110000"/>
                        </a:lnSpc>
                        <a:spcBef>
                          <a:spcPts val="0"/>
                        </a:spcBef>
                        <a:spcAft>
                          <a:spcPts val="0"/>
                        </a:spcAft>
                      </a:pPr>
                      <a:r>
                        <a:rPr sz="1200" b="1">
                          <a:solidFill>
                            <a:srgbClr val="FFFFFF"/>
                          </a:solidFill>
                          <a:latin typeface="Cairo"/>
                          <a:cs typeface="Cairo"/>
                        </a:rPr>
                        <a:t>المحتوى</a:t>
                      </a:r>
                    </a:p>
                  </a:txBody>
                  <a:tcPr marL="76200" marR="76200" marT="38100" marB="38100" anchor="ctr">
                    <a:solidFill>
                      <a:srgbClr val="1B1A18"/>
                    </a:solidFill>
                  </a:tcPr>
                </a:tc>
                <a:tc>
                  <a:txBody>
                    <a:bodyPr wrap="square"/>
                    <a:lstStyle/>
                    <a:p>
                      <a:pPr algn="r" rtl="1">
                        <a:lnSpc>
                          <a:spcPct val="110000"/>
                        </a:lnSpc>
                        <a:spcBef>
                          <a:spcPts val="0"/>
                        </a:spcBef>
                        <a:spcAft>
                          <a:spcPts val="0"/>
                        </a:spcAft>
                      </a:pPr>
                      <a:r>
                        <a:rPr sz="1200" b="1">
                          <a:solidFill>
                            <a:srgbClr val="FFFFFF"/>
                          </a:solidFill>
                          <a:latin typeface="Cairo"/>
                          <a:cs typeface="Cairo"/>
                        </a:rPr>
                        <a:t>الفقرة</a:t>
                      </a:r>
                    </a:p>
                  </a:txBody>
                  <a:tcPr marL="76200" marR="76200" marT="38100" marB="38100" anchor="ctr">
                    <a:solidFill>
                      <a:srgbClr val="1B1A18"/>
                    </a:solidFill>
                  </a:tcPr>
                </a:tc>
                <a:tc>
                  <a:txBody>
                    <a:bodyPr wrap="square"/>
                    <a:lstStyle/>
                    <a:p>
                      <a:pPr algn="r" rtl="1">
                        <a:lnSpc>
                          <a:spcPct val="110000"/>
                        </a:lnSpc>
                        <a:spcBef>
                          <a:spcPts val="0"/>
                        </a:spcBef>
                        <a:spcAft>
                          <a:spcPts val="0"/>
                        </a:spcAft>
                      </a:pPr>
                      <a:r>
                        <a:rPr sz="1200" b="1">
                          <a:solidFill>
                            <a:srgbClr val="FFFFFF"/>
                          </a:solidFill>
                          <a:latin typeface="Cairo"/>
                          <a:cs typeface="Cairo"/>
                        </a:rPr>
                        <a:t>المدة</a:t>
                      </a:r>
                    </a:p>
                  </a:txBody>
                  <a:tcPr marL="76200" marR="76200" marT="38100" marB="38100" anchor="ctr">
                    <a:solidFill>
                      <a:srgbClr val="1B1A18"/>
                    </a:solidFill>
                  </a:tcPr>
                </a:tc>
              </a:tr>
              <a:tr h="182880">
                <a:tc>
                  <a:txBody>
                    <a:bodyPr wrap="square"/>
                    <a:lstStyle/>
                    <a:p>
                      <a:pPr algn="r" rtl="1">
                        <a:lnSpc>
                          <a:spcPct val="110000"/>
                        </a:lnSpc>
                        <a:spcBef>
                          <a:spcPts val="0"/>
                        </a:spcBef>
                        <a:spcAft>
                          <a:spcPts val="0"/>
                        </a:spcAft>
                      </a:pPr>
                      <a:r>
                        <a:rPr sz="1100" b="0">
                          <a:solidFill>
                            <a:srgbClr val="4A473F"/>
                          </a:solidFill>
                          <a:latin typeface="Tajawal"/>
                          <a:cs typeface="Tajawal"/>
                        </a:rPr>
                        <a:t>بنبرة موجَّهة لمشاهد بعينه: القطاع يحرّك البنوك ويكشف أين تتجه الأموال.</a:t>
                      </a:r>
                    </a:p>
                  </a:txBody>
                  <a:tcPr marL="76200" marR="76200" marT="38100" marB="38100" anchor="ctr">
                    <a:solidFill>
                      <a:srgbClr val="F6F2EC"/>
                    </a:solidFill>
                  </a:tcPr>
                </a:tc>
                <a:tc>
                  <a:txBody>
                    <a:bodyPr wrap="square"/>
                    <a:lstStyle/>
                    <a:p>
                      <a:pPr algn="r" rtl="1">
                        <a:lnSpc>
                          <a:spcPct val="110000"/>
                        </a:lnSpc>
                        <a:spcBef>
                          <a:spcPts val="0"/>
                        </a:spcBef>
                        <a:spcAft>
                          <a:spcPts val="0"/>
                        </a:spcAft>
                      </a:pPr>
                      <a:r>
                        <a:rPr sz="1200" b="1">
                          <a:solidFill>
                            <a:srgbClr val="1B1A18"/>
                          </a:solidFill>
                          <a:latin typeface="Cairo"/>
                          <a:cs typeface="Cairo"/>
                        </a:rPr>
                        <a:t>المقدّمة</a:t>
                      </a:r>
                    </a:p>
                  </a:txBody>
                  <a:tcPr marL="76200" marR="76200" marT="38100" marB="38100" anchor="ctr">
                    <a:solidFill>
                      <a:srgbClr val="F6F2EC"/>
                    </a:solidFill>
                  </a:tcPr>
                </a:tc>
                <a:tc>
                  <a:txBody>
                    <a:bodyPr wrap="square"/>
                    <a:lstStyle/>
                    <a:p>
                      <a:pPr algn="r" rtl="1">
                        <a:lnSpc>
                          <a:spcPct val="110000"/>
                        </a:lnSpc>
                        <a:spcBef>
                          <a:spcPts val="0"/>
                        </a:spcBef>
                        <a:spcAft>
                          <a:spcPts val="0"/>
                        </a:spcAft>
                      </a:pPr>
                      <a:r>
                        <a:rPr sz="1200" b="1">
                          <a:solidFill>
                            <a:srgbClr val="B01E2E"/>
                          </a:solidFill>
                          <a:latin typeface="Cairo"/>
                          <a:cs typeface="Cairo"/>
                        </a:rPr>
                        <a:t>1:30</a:t>
                      </a:r>
                    </a:p>
                  </a:txBody>
                  <a:tcPr marL="76200" marR="76200" marT="38100" marB="38100" anchor="ctr">
                    <a:solidFill>
                      <a:srgbClr val="F6F2EC"/>
                    </a:solidFill>
                  </a:tcPr>
                </a:tc>
              </a:tr>
              <a:tr h="182880">
                <a:tc>
                  <a:txBody>
                    <a:bodyPr wrap="square"/>
                    <a:lstStyle/>
                    <a:p>
                      <a:pPr algn="r" rtl="1">
                        <a:lnSpc>
                          <a:spcPct val="110000"/>
                        </a:lnSpc>
                        <a:spcBef>
                          <a:spcPts val="0"/>
                        </a:spcBef>
                        <a:spcAft>
                          <a:spcPts val="0"/>
                        </a:spcAft>
                      </a:pPr>
                      <a:r>
                        <a:rPr sz="1100" b="0">
                          <a:solidFill>
                            <a:srgbClr val="4A473F"/>
                          </a:solidFill>
                          <a:latin typeface="Tajawal"/>
                          <a:cs typeface="Tajawal"/>
                        </a:rPr>
                        <a:t>محتوى مرئي: حجم الاستثمار، نسبة القروض العقارية، حركة الإيجارات.</a:t>
                      </a:r>
                    </a:p>
                  </a:txBody>
                  <a:tcPr marL="76200" marR="76200" marT="38100" marB="38100" anchor="ctr">
                    <a:solidFill>
                      <a:srgbClr val="FFFFFF"/>
                    </a:solidFill>
                  </a:tcPr>
                </a:tc>
                <a:tc>
                  <a:txBody>
                    <a:bodyPr wrap="square"/>
                    <a:lstStyle/>
                    <a:p>
                      <a:pPr algn="r" rtl="1">
                        <a:lnSpc>
                          <a:spcPct val="110000"/>
                        </a:lnSpc>
                        <a:spcBef>
                          <a:spcPts val="0"/>
                        </a:spcBef>
                        <a:spcAft>
                          <a:spcPts val="0"/>
                        </a:spcAft>
                      </a:pPr>
                      <a:r>
                        <a:rPr sz="1200" b="1">
                          <a:solidFill>
                            <a:srgbClr val="1B1A18"/>
                          </a:solidFill>
                          <a:latin typeface="Cairo"/>
                          <a:cs typeface="Cairo"/>
                        </a:rPr>
                        <a:t>غرفة القرار (افتتاح)</a:t>
                      </a:r>
                    </a:p>
                  </a:txBody>
                  <a:tcPr marL="76200" marR="76200" marT="38100" marB="38100" anchor="ctr">
                    <a:solidFill>
                      <a:srgbClr val="FFFFFF"/>
                    </a:solidFill>
                  </a:tcPr>
                </a:tc>
                <a:tc>
                  <a:txBody>
                    <a:bodyPr wrap="square"/>
                    <a:lstStyle/>
                    <a:p>
                      <a:pPr algn="r" rtl="1">
                        <a:lnSpc>
                          <a:spcPct val="110000"/>
                        </a:lnSpc>
                        <a:spcBef>
                          <a:spcPts val="0"/>
                        </a:spcBef>
                        <a:spcAft>
                          <a:spcPts val="0"/>
                        </a:spcAft>
                      </a:pPr>
                      <a:r>
                        <a:rPr sz="1200" b="1">
                          <a:solidFill>
                            <a:srgbClr val="B01E2E"/>
                          </a:solidFill>
                          <a:latin typeface="Cairo"/>
                          <a:cs typeface="Cairo"/>
                        </a:rPr>
                        <a:t>~1:00</a:t>
                      </a:r>
                    </a:p>
                  </a:txBody>
                  <a:tcPr marL="76200" marR="76200" marT="38100" marB="38100" anchor="ctr">
                    <a:solidFill>
                      <a:srgbClr val="FFFFFF"/>
                    </a:solidFill>
                  </a:tcPr>
                </a:tc>
              </a:tr>
              <a:tr h="182880">
                <a:tc>
                  <a:txBody>
                    <a:bodyPr wrap="square"/>
                    <a:lstStyle/>
                    <a:p>
                      <a:pPr algn="r" rtl="1">
                        <a:lnSpc>
                          <a:spcPct val="110000"/>
                        </a:lnSpc>
                        <a:spcBef>
                          <a:spcPts val="0"/>
                        </a:spcBef>
                        <a:spcAft>
                          <a:spcPts val="0"/>
                        </a:spcAft>
                      </a:pPr>
                      <a:r>
                        <a:rPr sz="1100" b="0">
                          <a:solidFill>
                            <a:srgbClr val="4A473F"/>
                          </a:solidFill>
                          <a:latin typeface="Tajawal"/>
                          <a:cs typeface="Tajawal"/>
                        </a:rPr>
                        <a:t>ملفات ساخنة + سرد لكواليس القطاع + تبسيط + أرقام وتوقّعات حصرية.</a:t>
                      </a:r>
                    </a:p>
                  </a:txBody>
                  <a:tcPr marL="76200" marR="76200" marT="38100" marB="38100" anchor="ctr">
                    <a:solidFill>
                      <a:srgbClr val="F6F2EC"/>
                    </a:solidFill>
                  </a:tcPr>
                </a:tc>
                <a:tc>
                  <a:txBody>
                    <a:bodyPr wrap="square"/>
                    <a:lstStyle/>
                    <a:p>
                      <a:pPr algn="r" rtl="1">
                        <a:lnSpc>
                          <a:spcPct val="110000"/>
                        </a:lnSpc>
                        <a:spcBef>
                          <a:spcPts val="0"/>
                        </a:spcBef>
                        <a:spcAft>
                          <a:spcPts val="0"/>
                        </a:spcAft>
                      </a:pPr>
                      <a:r>
                        <a:rPr sz="1200" b="1">
                          <a:solidFill>
                            <a:srgbClr val="1B1A18"/>
                          </a:solidFill>
                          <a:latin typeface="Cairo"/>
                          <a:cs typeface="Cairo"/>
                        </a:rPr>
                        <a:t>محاور الحوار</a:t>
                      </a:r>
                    </a:p>
                  </a:txBody>
                  <a:tcPr marL="76200" marR="76200" marT="38100" marB="38100" anchor="ctr">
                    <a:solidFill>
                      <a:srgbClr val="F6F2EC"/>
                    </a:solidFill>
                  </a:tcPr>
                </a:tc>
                <a:tc>
                  <a:txBody>
                    <a:bodyPr wrap="square"/>
                    <a:lstStyle/>
                    <a:p>
                      <a:pPr algn="r" rtl="1">
                        <a:lnSpc>
                          <a:spcPct val="110000"/>
                        </a:lnSpc>
                        <a:spcBef>
                          <a:spcPts val="0"/>
                        </a:spcBef>
                        <a:spcAft>
                          <a:spcPts val="0"/>
                        </a:spcAft>
                      </a:pPr>
                      <a:r>
                        <a:rPr sz="1200" b="1">
                          <a:solidFill>
                            <a:srgbClr val="B01E2E"/>
                          </a:solidFill>
                          <a:latin typeface="Cairo"/>
                          <a:cs typeface="Cairo"/>
                        </a:rPr>
                        <a:t>16–18:00</a:t>
                      </a:r>
                    </a:p>
                  </a:txBody>
                  <a:tcPr marL="76200" marR="76200" marT="38100" marB="38100" anchor="ctr">
                    <a:solidFill>
                      <a:srgbClr val="F6F2EC"/>
                    </a:solidFill>
                  </a:tcPr>
                </a:tc>
              </a:tr>
              <a:tr h="182880">
                <a:tc>
                  <a:txBody>
                    <a:bodyPr wrap="square"/>
                    <a:lstStyle/>
                    <a:p>
                      <a:pPr algn="r" rtl="1">
                        <a:lnSpc>
                          <a:spcPct val="110000"/>
                        </a:lnSpc>
                        <a:spcBef>
                          <a:spcPts val="0"/>
                        </a:spcBef>
                        <a:spcAft>
                          <a:spcPts val="0"/>
                        </a:spcAft>
                      </a:pPr>
                      <a:r>
                        <a:rPr sz="1100" b="0">
                          <a:solidFill>
                            <a:srgbClr val="4A473F"/>
                          </a:solidFill>
                          <a:latin typeface="Tajawal"/>
                          <a:cs typeface="Tajawal"/>
                        </a:rPr>
                        <a:t>خبير/مستأجر/مستثمر يطرح التحدّي، فيردّ الضيف الرئيسي.</a:t>
                      </a:r>
                    </a:p>
                  </a:txBody>
                  <a:tcPr marL="76200" marR="76200" marT="38100" marB="38100" anchor="ctr">
                    <a:solidFill>
                      <a:srgbClr val="FFFFFF"/>
                    </a:solidFill>
                  </a:tcPr>
                </a:tc>
                <a:tc>
                  <a:txBody>
                    <a:bodyPr wrap="square"/>
                    <a:lstStyle/>
                    <a:p>
                      <a:pPr algn="r" rtl="1">
                        <a:lnSpc>
                          <a:spcPct val="110000"/>
                        </a:lnSpc>
                        <a:spcBef>
                          <a:spcPts val="0"/>
                        </a:spcBef>
                        <a:spcAft>
                          <a:spcPts val="0"/>
                        </a:spcAft>
                      </a:pPr>
                      <a:r>
                        <a:rPr sz="1200" b="1">
                          <a:solidFill>
                            <a:srgbClr val="1B1A18"/>
                          </a:solidFill>
                          <a:latin typeface="Cairo"/>
                          <a:cs typeface="Cairo"/>
                        </a:rPr>
                        <a:t>الكرسي المقابل</a:t>
                      </a:r>
                    </a:p>
                  </a:txBody>
                  <a:tcPr marL="76200" marR="76200" marT="38100" marB="38100" anchor="ctr">
                    <a:solidFill>
                      <a:srgbClr val="FFFFFF"/>
                    </a:solidFill>
                  </a:tcPr>
                </a:tc>
                <a:tc>
                  <a:txBody>
                    <a:bodyPr wrap="square"/>
                    <a:lstStyle/>
                    <a:p>
                      <a:pPr algn="r" rtl="1">
                        <a:lnSpc>
                          <a:spcPct val="110000"/>
                        </a:lnSpc>
                        <a:spcBef>
                          <a:spcPts val="0"/>
                        </a:spcBef>
                        <a:spcAft>
                          <a:spcPts val="0"/>
                        </a:spcAft>
                      </a:pPr>
                      <a:r>
                        <a:rPr sz="1200" b="1">
                          <a:solidFill>
                            <a:srgbClr val="B01E2E"/>
                          </a:solidFill>
                          <a:latin typeface="Cairo"/>
                          <a:cs typeface="Cairo"/>
                        </a:rPr>
                        <a:t>3–4:00</a:t>
                      </a:r>
                    </a:p>
                  </a:txBody>
                  <a:tcPr marL="76200" marR="76200" marT="38100" marB="38100" anchor="ctr">
                    <a:solidFill>
                      <a:srgbClr val="FFFFFF"/>
                    </a:solidFill>
                  </a:tcPr>
                </a:tc>
              </a:tr>
              <a:tr h="182880">
                <a:tc>
                  <a:txBody>
                    <a:bodyPr wrap="square"/>
                    <a:lstStyle/>
                    <a:p>
                      <a:pPr algn="r" rtl="1">
                        <a:lnSpc>
                          <a:spcPct val="110000"/>
                        </a:lnSpc>
                        <a:spcBef>
                          <a:spcPts val="0"/>
                        </a:spcBef>
                        <a:spcAft>
                          <a:spcPts val="0"/>
                        </a:spcAft>
                      </a:pPr>
                      <a:r>
                        <a:rPr sz="1100" b="0">
                          <a:solidFill>
                            <a:srgbClr val="4A473F"/>
                          </a:solidFill>
                          <a:latin typeface="Tajawal"/>
                          <a:cs typeface="Tajawal"/>
                        </a:rPr>
                        <a:t>المقدِّمة إلى الكاميرا: الأثر المباشر على المستثمر والمستهلك.</a:t>
                      </a:r>
                    </a:p>
                  </a:txBody>
                  <a:tcPr marL="76200" marR="76200" marT="38100" marB="38100" anchor="ctr">
                    <a:solidFill>
                      <a:srgbClr val="F6F2EC"/>
                    </a:solidFill>
                  </a:tcPr>
                </a:tc>
                <a:tc>
                  <a:txBody>
                    <a:bodyPr wrap="square"/>
                    <a:lstStyle/>
                    <a:p>
                      <a:pPr algn="r" rtl="1">
                        <a:lnSpc>
                          <a:spcPct val="110000"/>
                        </a:lnSpc>
                        <a:spcBef>
                          <a:spcPts val="0"/>
                        </a:spcBef>
                        <a:spcAft>
                          <a:spcPts val="0"/>
                        </a:spcAft>
                      </a:pPr>
                      <a:r>
                        <a:rPr sz="1200" b="1">
                          <a:solidFill>
                            <a:srgbClr val="1B1A18"/>
                          </a:solidFill>
                          <a:latin typeface="Cairo"/>
                          <a:cs typeface="Cairo"/>
                        </a:rPr>
                        <a:t>ماذا يعني لك؟</a:t>
                      </a:r>
                    </a:p>
                  </a:txBody>
                  <a:tcPr marL="76200" marR="76200" marT="38100" marB="38100" anchor="ctr">
                    <a:solidFill>
                      <a:srgbClr val="F6F2EC"/>
                    </a:solidFill>
                  </a:tcPr>
                </a:tc>
                <a:tc>
                  <a:txBody>
                    <a:bodyPr wrap="square"/>
                    <a:lstStyle/>
                    <a:p>
                      <a:pPr algn="r" rtl="1">
                        <a:lnSpc>
                          <a:spcPct val="110000"/>
                        </a:lnSpc>
                        <a:spcBef>
                          <a:spcPts val="0"/>
                        </a:spcBef>
                        <a:spcAft>
                          <a:spcPts val="0"/>
                        </a:spcAft>
                      </a:pPr>
                      <a:r>
                        <a:rPr sz="1200" b="1">
                          <a:solidFill>
                            <a:srgbClr val="B01E2E"/>
                          </a:solidFill>
                          <a:latin typeface="Cairo"/>
                          <a:cs typeface="Cairo"/>
                        </a:rPr>
                        <a:t>1:30</a:t>
                      </a:r>
                    </a:p>
                  </a:txBody>
                  <a:tcPr marL="76200" marR="76200" marT="38100" marB="38100" anchor="ctr">
                    <a:solidFill>
                      <a:srgbClr val="F6F2EC"/>
                    </a:solidFill>
                  </a:tcPr>
                </a:tc>
              </a:tr>
              <a:tr h="182880">
                <a:tc>
                  <a:txBody>
                    <a:bodyPr wrap="square"/>
                    <a:lstStyle/>
                    <a:p>
                      <a:pPr algn="r" rtl="1">
                        <a:lnSpc>
                          <a:spcPct val="110000"/>
                        </a:lnSpc>
                        <a:spcBef>
                          <a:spcPts val="0"/>
                        </a:spcBef>
                        <a:spcAft>
                          <a:spcPts val="0"/>
                        </a:spcAft>
                      </a:pPr>
                      <a:r>
                        <a:rPr sz="1100" b="0">
                          <a:solidFill>
                            <a:srgbClr val="4A473F"/>
                          </a:solidFill>
                          <a:latin typeface="Tajawal"/>
                          <a:cs typeface="Tajawal"/>
                        </a:rPr>
                        <a:t>ربط الخبر بحياة الناس (أسعار النفط، حوالات المغتربين…).</a:t>
                      </a:r>
                    </a:p>
                  </a:txBody>
                  <a:tcPr marL="76200" marR="76200" marT="38100" marB="38100" anchor="ctr">
                    <a:solidFill>
                      <a:srgbClr val="FFFFFF"/>
                    </a:solidFill>
                  </a:tcPr>
                </a:tc>
                <a:tc>
                  <a:txBody>
                    <a:bodyPr wrap="square"/>
                    <a:lstStyle/>
                    <a:p>
                      <a:pPr algn="r" rtl="1">
                        <a:lnSpc>
                          <a:spcPct val="110000"/>
                        </a:lnSpc>
                        <a:spcBef>
                          <a:spcPts val="0"/>
                        </a:spcBef>
                        <a:spcAft>
                          <a:spcPts val="0"/>
                        </a:spcAft>
                      </a:pPr>
                      <a:r>
                        <a:rPr sz="1200" b="1">
                          <a:solidFill>
                            <a:srgbClr val="1B1A18"/>
                          </a:solidFill>
                          <a:latin typeface="Cairo"/>
                          <a:cs typeface="Cairo"/>
                        </a:rPr>
                        <a:t>اقتصاد الناس</a:t>
                      </a:r>
                    </a:p>
                  </a:txBody>
                  <a:tcPr marL="76200" marR="76200" marT="38100" marB="38100" anchor="ctr">
                    <a:solidFill>
                      <a:srgbClr val="FFFFFF"/>
                    </a:solidFill>
                  </a:tcPr>
                </a:tc>
                <a:tc>
                  <a:txBody>
                    <a:bodyPr wrap="square"/>
                    <a:lstStyle/>
                    <a:p>
                      <a:pPr algn="r" rtl="1">
                        <a:lnSpc>
                          <a:spcPct val="110000"/>
                        </a:lnSpc>
                        <a:spcBef>
                          <a:spcPts val="0"/>
                        </a:spcBef>
                        <a:spcAft>
                          <a:spcPts val="0"/>
                        </a:spcAft>
                      </a:pPr>
                      <a:r>
                        <a:rPr sz="1200" b="1">
                          <a:solidFill>
                            <a:srgbClr val="B01E2E"/>
                          </a:solidFill>
                          <a:latin typeface="Cairo"/>
                          <a:cs typeface="Cairo"/>
                        </a:rPr>
                        <a:t>segment</a:t>
                      </a:r>
                    </a:p>
                  </a:txBody>
                  <a:tcPr marL="76200" marR="76200" marT="38100" marB="38100" anchor="ctr">
                    <a:solidFill>
                      <a:srgbClr val="FFFFFF"/>
                    </a:solidFill>
                  </a:tcPr>
                </a:tc>
              </a:tr>
              <a:tr h="182880">
                <a:tc>
                  <a:txBody>
                    <a:bodyPr wrap="square"/>
                    <a:lstStyle/>
                    <a:p>
                      <a:pPr algn="r" rtl="1">
                        <a:lnSpc>
                          <a:spcPct val="110000"/>
                        </a:lnSpc>
                        <a:spcBef>
                          <a:spcPts val="0"/>
                        </a:spcBef>
                        <a:spcAft>
                          <a:spcPts val="0"/>
                        </a:spcAft>
                      </a:pPr>
                      <a:r>
                        <a:rPr sz="1100" b="0">
                          <a:solidFill>
                            <a:srgbClr val="4A473F"/>
                          </a:solidFill>
                          <a:latin typeface="Tajawal"/>
                          <a:cs typeface="Tajawal"/>
                        </a:rPr>
                        <a:t>فكرة اقتصادية أكبر تُختم بالمشاهد: هل يرتفع المعروض بما يكفي؟</a:t>
                      </a:r>
                    </a:p>
                  </a:txBody>
                  <a:tcPr marL="76200" marR="76200" marT="38100" marB="38100" anchor="ctr">
                    <a:solidFill>
                      <a:srgbClr val="F6F2EC"/>
                    </a:solidFill>
                  </a:tcPr>
                </a:tc>
                <a:tc>
                  <a:txBody>
                    <a:bodyPr wrap="square"/>
                    <a:lstStyle/>
                    <a:p>
                      <a:pPr algn="r" rtl="1">
                        <a:lnSpc>
                          <a:spcPct val="110000"/>
                        </a:lnSpc>
                        <a:spcBef>
                          <a:spcPts val="0"/>
                        </a:spcBef>
                        <a:spcAft>
                          <a:spcPts val="0"/>
                        </a:spcAft>
                      </a:pPr>
                      <a:r>
                        <a:rPr sz="1200" b="1">
                          <a:solidFill>
                            <a:srgbClr val="1B1A18"/>
                          </a:solidFill>
                          <a:latin typeface="Cairo"/>
                          <a:cs typeface="Cairo"/>
                        </a:rPr>
                        <a:t>لحظة مايا</a:t>
                      </a:r>
                    </a:p>
                  </a:txBody>
                  <a:tcPr marL="76200" marR="76200" marT="38100" marB="38100" anchor="ctr">
                    <a:solidFill>
                      <a:srgbClr val="F6F2EC"/>
                    </a:solidFill>
                  </a:tcPr>
                </a:tc>
                <a:tc>
                  <a:txBody>
                    <a:bodyPr wrap="square"/>
                    <a:lstStyle/>
                    <a:p>
                      <a:pPr algn="r" rtl="1">
                        <a:lnSpc>
                          <a:spcPct val="110000"/>
                        </a:lnSpc>
                        <a:spcBef>
                          <a:spcPts val="0"/>
                        </a:spcBef>
                        <a:spcAft>
                          <a:spcPts val="0"/>
                        </a:spcAft>
                      </a:pPr>
                      <a:r>
                        <a:rPr sz="1200" b="1">
                          <a:solidFill>
                            <a:srgbClr val="B01E2E"/>
                          </a:solidFill>
                          <a:latin typeface="Cairo"/>
                          <a:cs typeface="Cairo"/>
                        </a:rPr>
                        <a:t>1:00–1:30</a:t>
                      </a:r>
                    </a:p>
                  </a:txBody>
                  <a:tcPr marL="76200" marR="76200" marT="38100" marB="38100" anchor="ctr">
                    <a:solidFill>
                      <a:srgbClr val="F6F2EC"/>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09</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فقرة أساسية · اقتصاد الناس</a:t>
            </a:r>
          </a:p>
        </p:txBody>
      </p:sp>
      <p:sp>
        <p:nvSpPr>
          <p:cNvPr id="10" name="TextBox 9"/>
          <p:cNvSpPr txBox="1"/>
          <p:nvPr/>
        </p:nvSpPr>
        <p:spPr>
          <a:xfrm>
            <a:off x="6019495" y="1371600"/>
            <a:ext cx="548640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2800" b="1">
                <a:solidFill>
                  <a:srgbClr val="1B1A18"/>
                </a:solidFill>
                <a:latin typeface="Cairo"/>
                <a:cs typeface="Cairo"/>
              </a:rPr>
              <a:t>«ما الذي يعنيه</a:t>
            </a:r>
          </a:p>
          <a:p>
            <a:pPr algn="r" rtl="1">
              <a:lnSpc>
                <a:spcPct val="102000"/>
              </a:lnSpc>
              <a:spcBef>
                <a:spcPts val="0"/>
              </a:spcBef>
              <a:spcAft>
                <a:spcPts val="200"/>
              </a:spcAft>
            </a:pPr>
            <a:r>
              <a:rPr sz="2800" b="1">
                <a:solidFill>
                  <a:srgbClr val="1B1A18"/>
                </a:solidFill>
                <a:latin typeface="Cairo"/>
                <a:cs typeface="Cairo"/>
              </a:rPr>
              <a:t>هذا الخبر بالنسبة لي؟»</a:t>
            </a:r>
          </a:p>
        </p:txBody>
      </p:sp>
      <p:sp>
        <p:nvSpPr>
          <p:cNvPr id="11" name="TextBox 10"/>
          <p:cNvSpPr txBox="1"/>
          <p:nvPr/>
        </p:nvSpPr>
        <p:spPr>
          <a:xfrm>
            <a:off x="6019495" y="2834640"/>
            <a:ext cx="5486400" cy="1097280"/>
          </a:xfrm>
          <a:prstGeom prst="rect">
            <a:avLst/>
          </a:prstGeom>
          <a:noFill/>
        </p:spPr>
        <p:txBody>
          <a:bodyPr wrap="square" anchor="t" lIns="25400" rIns="25400" tIns="25400" bIns="25400">
            <a:spAutoFit/>
          </a:bodyPr>
          <a:lstStyle/>
          <a:p>
            <a:pPr algn="r" rtl="1">
              <a:lnSpc>
                <a:spcPct val="135000"/>
              </a:lnSpc>
              <a:spcBef>
                <a:spcPts val="0"/>
              </a:spcBef>
              <a:spcAft>
                <a:spcPts val="0"/>
              </a:spcAft>
            </a:pPr>
            <a:r>
              <a:rPr sz="1350" b="0">
                <a:solidFill>
                  <a:srgbClr val="4A473F"/>
                </a:solidFill>
                <a:latin typeface="Tajawal"/>
                <a:cs typeface="Tajawal"/>
              </a:rPr>
              <a:t>فقرة تربط الأخبار الاقتصادية بحياة الناس اليومية، وتشرح كيف تصل القرارات العالمية إلى كل بيت — سواء ارتبطت بحلقة اليوم أو بقضية أخرى.</a:t>
            </a:r>
          </a:p>
        </p:txBody>
      </p:sp>
      <p:sp>
        <p:nvSpPr>
          <p:cNvPr id="12" name="Rounded Rectangle 11"/>
          <p:cNvSpPr/>
          <p:nvPr/>
        </p:nvSpPr>
        <p:spPr>
          <a:xfrm>
            <a:off x="6019495" y="4114800"/>
            <a:ext cx="5486400" cy="1965960"/>
          </a:xfrm>
          <a:prstGeom prst="roundRect">
            <a:avLst>
              <a:gd name="adj" fmla="val 6000"/>
            </a:avLst>
          </a:prstGeom>
          <a:solidFill>
            <a:srgbClr val="EFE9DF"/>
          </a:solidFill>
          <a:ln w="12700">
            <a:solidFill>
              <a:srgbClr val="E5DD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02375" y="4279392"/>
            <a:ext cx="5120640" cy="1737360"/>
          </a:xfrm>
          <a:prstGeom prst="rect">
            <a:avLst/>
          </a:prstGeom>
          <a:noFill/>
        </p:spPr>
        <p:txBody>
          <a:bodyPr wrap="square" anchor="ctr" lIns="25400" rIns="25400" tIns="25400" bIns="25400">
            <a:spAutoFit/>
          </a:bodyPr>
          <a:lstStyle/>
          <a:p>
            <a:pPr algn="r" rtl="1">
              <a:lnSpc>
                <a:spcPct val="135000"/>
              </a:lnSpc>
              <a:spcBef>
                <a:spcPts val="0"/>
              </a:spcBef>
              <a:spcAft>
                <a:spcPts val="0"/>
              </a:spcAft>
            </a:pPr>
            <a:r>
              <a:rPr sz="1250" b="1">
                <a:solidFill>
                  <a:srgbClr val="1B1A18"/>
                </a:solidFill>
                <a:latin typeface="Tajawal"/>
                <a:cs typeface="Tajawal"/>
              </a:rPr>
              <a:t>مثال:  </a:t>
            </a:r>
            <a:r>
              <a:rPr sz="1250" b="0">
                <a:solidFill>
                  <a:srgbClr val="4A473F"/>
                </a:solidFill>
                <a:latin typeface="Tajawal"/>
                <a:cs typeface="Tajawal"/>
              </a:rPr>
              <a:t>ارتفعت أسعار النفط… لكن هذا لا يؤثر على أصحاب السيارات فقط، بل يمتد إلى الشحن، وأسعار السلع، وتشغيل المصانع، وفواتير الكهرباء، وربما سعر تذكرة السفر. حتى لو لم تملك سيارة، قد يصل الارتفاع إلى جيبك.</a:t>
            </a:r>
          </a:p>
        </p:txBody>
      </p:sp>
      <p:sp>
        <p:nvSpPr>
          <p:cNvPr id="14" name="TextBox 13"/>
          <p:cNvSpPr txBox="1"/>
          <p:nvPr/>
        </p:nvSpPr>
        <p:spPr>
          <a:xfrm>
            <a:off x="685800" y="1554480"/>
            <a:ext cx="5212080" cy="45720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600" b="1">
                <a:solidFill>
                  <a:srgbClr val="1B1A18"/>
                </a:solidFill>
                <a:latin typeface="Cairo"/>
                <a:cs typeface="Cairo"/>
              </a:rPr>
              <a:t>أفكار أخرى قابلة للتناول</a:t>
            </a:r>
          </a:p>
        </p:txBody>
      </p:sp>
      <p:sp>
        <p:nvSpPr>
          <p:cNvPr id="15" name="Rounded Rectangle 14"/>
          <p:cNvSpPr/>
          <p:nvPr/>
        </p:nvSpPr>
        <p:spPr>
          <a:xfrm>
            <a:off x="685800" y="2148840"/>
            <a:ext cx="2359152" cy="411480"/>
          </a:xfrm>
          <a:prstGeom prst="roundRect">
            <a:avLst>
              <a:gd name="adj" fmla="val 6000"/>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148840"/>
            <a:ext cx="2359152" cy="411480"/>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50" b="1">
                <a:solidFill>
                  <a:srgbClr val="FFFFFF"/>
                </a:solidFill>
                <a:latin typeface="Cairo"/>
                <a:cs typeface="Cairo"/>
              </a:rPr>
              <a:t>حوالات المغتربين</a:t>
            </a:r>
          </a:p>
        </p:txBody>
      </p:sp>
      <p:sp>
        <p:nvSpPr>
          <p:cNvPr id="17" name="Rounded Rectangle 16"/>
          <p:cNvSpPr/>
          <p:nvPr/>
        </p:nvSpPr>
        <p:spPr>
          <a:xfrm>
            <a:off x="3182112" y="2148840"/>
            <a:ext cx="1289304" cy="41148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82112" y="2148840"/>
            <a:ext cx="1289304" cy="411480"/>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50" b="1">
                <a:solidFill>
                  <a:srgbClr val="1B1A18"/>
                </a:solidFill>
                <a:latin typeface="Cairo"/>
                <a:cs typeface="Cairo"/>
              </a:rPr>
              <a:t>البطالة</a:t>
            </a:r>
          </a:p>
        </p:txBody>
      </p:sp>
      <p:sp>
        <p:nvSpPr>
          <p:cNvPr id="19" name="Rounded Rectangle 18"/>
          <p:cNvSpPr/>
          <p:nvPr/>
        </p:nvSpPr>
        <p:spPr>
          <a:xfrm>
            <a:off x="685800" y="2697480"/>
            <a:ext cx="2002536" cy="41148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697480"/>
            <a:ext cx="2002536" cy="411480"/>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50" b="1">
                <a:solidFill>
                  <a:srgbClr val="1B1A18"/>
                </a:solidFill>
                <a:latin typeface="Cairo"/>
                <a:cs typeface="Cairo"/>
              </a:rPr>
              <a:t>أسعار الفائدة</a:t>
            </a:r>
          </a:p>
        </p:txBody>
      </p:sp>
      <p:sp>
        <p:nvSpPr>
          <p:cNvPr id="21" name="Rounded Rectangle 20"/>
          <p:cNvSpPr/>
          <p:nvPr/>
        </p:nvSpPr>
        <p:spPr>
          <a:xfrm>
            <a:off x="2825496" y="2697480"/>
            <a:ext cx="1289304" cy="41148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25496" y="2697480"/>
            <a:ext cx="1289304" cy="411480"/>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50" b="1">
                <a:solidFill>
                  <a:srgbClr val="1B1A18"/>
                </a:solidFill>
                <a:latin typeface="Cairo"/>
                <a:cs typeface="Cairo"/>
              </a:rPr>
              <a:t>التضخّم</a:t>
            </a:r>
          </a:p>
        </p:txBody>
      </p:sp>
      <p:sp>
        <p:nvSpPr>
          <p:cNvPr id="23" name="Rounded Rectangle 22"/>
          <p:cNvSpPr/>
          <p:nvPr/>
        </p:nvSpPr>
        <p:spPr>
          <a:xfrm>
            <a:off x="4251960" y="2697480"/>
            <a:ext cx="1527048" cy="41148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51960" y="2697480"/>
            <a:ext cx="1527048" cy="411480"/>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50" b="1">
                <a:solidFill>
                  <a:srgbClr val="1B1A18"/>
                </a:solidFill>
                <a:latin typeface="Cairo"/>
                <a:cs typeface="Cairo"/>
              </a:rPr>
              <a:t>سعر الصرف</a:t>
            </a:r>
          </a:p>
        </p:txBody>
      </p:sp>
      <p:sp>
        <p:nvSpPr>
          <p:cNvPr id="25" name="TextBox 24"/>
          <p:cNvSpPr txBox="1"/>
          <p:nvPr/>
        </p:nvSpPr>
        <p:spPr>
          <a:xfrm>
            <a:off x="685800" y="3383280"/>
            <a:ext cx="5212080" cy="2743200"/>
          </a:xfrm>
          <a:prstGeom prst="rect">
            <a:avLst/>
          </a:prstGeom>
          <a:noFill/>
        </p:spPr>
        <p:txBody>
          <a:bodyPr wrap="square" anchor="t" lIns="25400" rIns="25400" tIns="25400" bIns="25400">
            <a:spAutoFit/>
          </a:bodyPr>
          <a:lstStyle/>
          <a:p>
            <a:pPr algn="r" rtl="1">
              <a:lnSpc>
                <a:spcPct val="140000"/>
              </a:lnSpc>
              <a:spcBef>
                <a:spcPts val="0"/>
              </a:spcBef>
              <a:spcAft>
                <a:spcPts val="0"/>
              </a:spcAft>
            </a:pPr>
            <a:r>
              <a:rPr sz="1250" b="1">
                <a:solidFill>
                  <a:srgbClr val="1B1A18"/>
                </a:solidFill>
                <a:latin typeface="Tajawal"/>
                <a:cs typeface="Tajawal"/>
              </a:rPr>
              <a:t>حوالات المغتربين </a:t>
            </a:r>
            <a:r>
              <a:rPr sz="1250" b="0">
                <a:solidFill>
                  <a:srgbClr val="4A473F"/>
                </a:solidFill>
                <a:latin typeface="Tajawal"/>
                <a:cs typeface="Tajawal"/>
              </a:rPr>
              <a:t>ليست مجرد أموال يرسلها شخص لعائلته، بل شريان اقتصادي يربط بلدين: يوفّر دخلًا لملايين الأسر ويضخّ عملة أجنبية في بلد الاستقبال، ويعكس قوة سوق العمل في بلد المصدر. لذلك يقرأها الاقتصاديون كمؤشر لا كتحويل مالي.</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10</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منظومة المحتوى · Content Ecosystem</a:t>
            </a:r>
          </a:p>
        </p:txBody>
      </p:sp>
      <p:sp>
        <p:nvSpPr>
          <p:cNvPr id="10" name="TextBox 9"/>
          <p:cNvSpPr txBox="1"/>
          <p:nvPr/>
        </p:nvSpPr>
        <p:spPr>
          <a:xfrm>
            <a:off x="685800" y="1097280"/>
            <a:ext cx="10820095"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3000" b="1">
                <a:solidFill>
                  <a:srgbClr val="1B1A18"/>
                </a:solidFill>
                <a:latin typeface="Cairo"/>
                <a:cs typeface="Cairo"/>
              </a:rPr>
              <a:t>مقابلة واحدة… تُغذّي أسبوعًا كاملًا.</a:t>
            </a:r>
          </a:p>
        </p:txBody>
      </p:sp>
      <p:sp>
        <p:nvSpPr>
          <p:cNvPr id="11" name="TextBox 10"/>
          <p:cNvSpPr txBox="1"/>
          <p:nvPr/>
        </p:nvSpPr>
        <p:spPr>
          <a:xfrm>
            <a:off x="685800" y="1874519"/>
            <a:ext cx="10820095" cy="54864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400" b="0">
                <a:solidFill>
                  <a:srgbClr val="4A473F"/>
                </a:solidFill>
                <a:latin typeface="Tajawal"/>
                <a:cs typeface="Tajawal"/>
              </a:rPr>
              <a:t>المقابلة ليست المنتج النهائي، بل المادة الخام التي تُبنى عليها منظومة تحريرية متكاملة عبر كل المنصّات.</a:t>
            </a:r>
          </a:p>
        </p:txBody>
      </p:sp>
      <p:sp>
        <p:nvSpPr>
          <p:cNvPr id="12" name="Rounded Rectangle 11"/>
          <p:cNvSpPr/>
          <p:nvPr/>
        </p:nvSpPr>
        <p:spPr>
          <a:xfrm>
            <a:off x="9576511" y="2697480"/>
            <a:ext cx="1929384" cy="420624"/>
          </a:xfrm>
          <a:prstGeom prst="roundRect">
            <a:avLst>
              <a:gd name="adj" fmla="val 6000"/>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76511" y="2697480"/>
            <a:ext cx="1929384" cy="420624"/>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100" b="1">
                <a:solidFill>
                  <a:srgbClr val="FFFFFF"/>
                </a:solidFill>
                <a:latin typeface="Cairo"/>
                <a:cs typeface="Cairo"/>
              </a:rPr>
              <a:t>الحلقة الكاملة</a:t>
            </a:r>
          </a:p>
        </p:txBody>
      </p:sp>
      <p:sp>
        <p:nvSpPr>
          <p:cNvPr id="14" name="Rounded Rectangle 13"/>
          <p:cNvSpPr/>
          <p:nvPr/>
        </p:nvSpPr>
        <p:spPr>
          <a:xfrm>
            <a:off x="6783019" y="2697480"/>
            <a:ext cx="2665476" cy="420624"/>
          </a:xfrm>
          <a:prstGeom prst="roundRect">
            <a:avLst>
              <a:gd name="adj" fmla="val 6000"/>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3019" y="2697480"/>
            <a:ext cx="2665476" cy="420624"/>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100" b="1">
                <a:solidFill>
                  <a:srgbClr val="FFFFFF"/>
                </a:solidFill>
                <a:latin typeface="Cairo"/>
                <a:cs typeface="Cairo"/>
              </a:rPr>
              <a:t>Hero Clip — أبرز مقطع</a:t>
            </a:r>
          </a:p>
        </p:txBody>
      </p:sp>
      <p:sp>
        <p:nvSpPr>
          <p:cNvPr id="16" name="Rounded Rectangle 15"/>
          <p:cNvSpPr/>
          <p:nvPr/>
        </p:nvSpPr>
        <p:spPr>
          <a:xfrm>
            <a:off x="4199839" y="2697480"/>
            <a:ext cx="2455164"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99839" y="2697480"/>
            <a:ext cx="2455164"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فقرة الكرسي المقابل</a:t>
            </a:r>
          </a:p>
        </p:txBody>
      </p:sp>
      <p:sp>
        <p:nvSpPr>
          <p:cNvPr id="18" name="Rounded Rectangle 17"/>
          <p:cNvSpPr/>
          <p:nvPr/>
        </p:nvSpPr>
        <p:spPr>
          <a:xfrm>
            <a:off x="2352751" y="2697480"/>
            <a:ext cx="1719072"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2751" y="2697480"/>
            <a:ext cx="1719072"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اقتصاد الناس</a:t>
            </a:r>
          </a:p>
        </p:txBody>
      </p:sp>
      <p:sp>
        <p:nvSpPr>
          <p:cNvPr id="20" name="Rounded Rectangle 19"/>
          <p:cNvSpPr/>
          <p:nvPr/>
        </p:nvSpPr>
        <p:spPr>
          <a:xfrm>
            <a:off x="821131" y="2697480"/>
            <a:ext cx="1403604"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1131" y="2697480"/>
            <a:ext cx="1403604"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لحظة مايا</a:t>
            </a:r>
          </a:p>
        </p:txBody>
      </p:sp>
      <p:sp>
        <p:nvSpPr>
          <p:cNvPr id="22" name="Rounded Rectangle 21"/>
          <p:cNvSpPr/>
          <p:nvPr/>
        </p:nvSpPr>
        <p:spPr>
          <a:xfrm>
            <a:off x="9261043" y="3264408"/>
            <a:ext cx="2244852" cy="420624"/>
          </a:xfrm>
          <a:prstGeom prst="roundRect">
            <a:avLst>
              <a:gd name="adj" fmla="val 6000"/>
            </a:avLst>
          </a:prstGeom>
          <a:solidFill>
            <a:srgbClr val="C7A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61043" y="3264408"/>
            <a:ext cx="2244852"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فيديو عمودي × 3–4</a:t>
            </a:r>
          </a:p>
        </p:txBody>
      </p:sp>
      <p:sp>
        <p:nvSpPr>
          <p:cNvPr id="24" name="Rounded Rectangle 23"/>
          <p:cNvSpPr/>
          <p:nvPr/>
        </p:nvSpPr>
        <p:spPr>
          <a:xfrm>
            <a:off x="6888175" y="3264408"/>
            <a:ext cx="2244852"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88175" y="3264408"/>
            <a:ext cx="2244852"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تصاميم الاقتباسات</a:t>
            </a:r>
          </a:p>
        </p:txBody>
      </p:sp>
      <p:sp>
        <p:nvSpPr>
          <p:cNvPr id="26" name="Rounded Rectangle 25"/>
          <p:cNvSpPr/>
          <p:nvPr/>
        </p:nvSpPr>
        <p:spPr>
          <a:xfrm>
            <a:off x="4094683" y="3264408"/>
            <a:ext cx="2665476"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94683" y="3264408"/>
            <a:ext cx="2665476"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فيديوهات شرح المفاهيم</a:t>
            </a:r>
          </a:p>
        </p:txBody>
      </p:sp>
      <p:sp>
        <p:nvSpPr>
          <p:cNvPr id="28" name="Rounded Rectangle 27"/>
          <p:cNvSpPr/>
          <p:nvPr/>
        </p:nvSpPr>
        <p:spPr>
          <a:xfrm>
            <a:off x="1721815" y="3264408"/>
            <a:ext cx="2244852"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21815" y="3264408"/>
            <a:ext cx="2244852"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مقال تحليلي (SEO)</a:t>
            </a:r>
          </a:p>
        </p:txBody>
      </p:sp>
      <p:sp>
        <p:nvSpPr>
          <p:cNvPr id="30" name="Rounded Rectangle 29"/>
          <p:cNvSpPr/>
          <p:nvPr/>
        </p:nvSpPr>
        <p:spPr>
          <a:xfrm>
            <a:off x="8945575" y="3831336"/>
            <a:ext cx="2560320"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45575" y="3831336"/>
            <a:ext cx="2560320"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فقرة النشرة البريدية</a:t>
            </a:r>
          </a:p>
        </p:txBody>
      </p:sp>
      <p:sp>
        <p:nvSpPr>
          <p:cNvPr id="32" name="Rounded Rectangle 31"/>
          <p:cNvSpPr/>
          <p:nvPr/>
        </p:nvSpPr>
        <p:spPr>
          <a:xfrm>
            <a:off x="7098487" y="3831336"/>
            <a:ext cx="1719072"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98487" y="3831336"/>
            <a:ext cx="1719072"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نسخة بودكاست</a:t>
            </a:r>
          </a:p>
        </p:txBody>
      </p:sp>
      <p:sp>
        <p:nvSpPr>
          <p:cNvPr id="34" name="Rounded Rectangle 33"/>
          <p:cNvSpPr/>
          <p:nvPr/>
        </p:nvSpPr>
        <p:spPr>
          <a:xfrm>
            <a:off x="5672023" y="3831336"/>
            <a:ext cx="1298448"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2023" y="3831336"/>
            <a:ext cx="1298448"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LinkedIn</a:t>
            </a:r>
          </a:p>
        </p:txBody>
      </p:sp>
      <p:sp>
        <p:nvSpPr>
          <p:cNvPr id="36" name="Rounded Rectangle 35"/>
          <p:cNvSpPr/>
          <p:nvPr/>
        </p:nvSpPr>
        <p:spPr>
          <a:xfrm>
            <a:off x="3509467" y="3831336"/>
            <a:ext cx="2034540"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09467" y="3831336"/>
            <a:ext cx="2034540"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Instagram Reels</a:t>
            </a:r>
          </a:p>
        </p:txBody>
      </p:sp>
      <p:sp>
        <p:nvSpPr>
          <p:cNvPr id="38" name="Rounded Rectangle 37"/>
          <p:cNvSpPr/>
          <p:nvPr/>
        </p:nvSpPr>
        <p:spPr>
          <a:xfrm>
            <a:off x="2293315" y="3831336"/>
            <a:ext cx="1088136"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93315" y="3831336"/>
            <a:ext cx="1088136"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TikTok</a:t>
            </a:r>
          </a:p>
        </p:txBody>
      </p:sp>
      <p:sp>
        <p:nvSpPr>
          <p:cNvPr id="40" name="Rounded Rectangle 39"/>
          <p:cNvSpPr/>
          <p:nvPr/>
        </p:nvSpPr>
        <p:spPr>
          <a:xfrm>
            <a:off x="9576511" y="4398264"/>
            <a:ext cx="1929384" cy="420624"/>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76511" y="4398264"/>
            <a:ext cx="1929384" cy="420624"/>
          </a:xfrm>
          <a:prstGeom prst="rect">
            <a:avLst/>
          </a:prstGeom>
          <a:noFill/>
        </p:spPr>
        <p:txBody>
          <a:bodyPr wrap="square" anchor="ctr" lIns="25400" rIns="25400" tIns="25400" bIns="25400">
            <a:spAutoFit/>
          </a:bodyPr>
          <a:lstStyle/>
          <a:p>
            <a:pPr algn="ctr" rtl="1">
              <a:lnSpc>
                <a:spcPct val="115000"/>
              </a:lnSpc>
              <a:spcBef>
                <a:spcPts val="0"/>
              </a:spcBef>
              <a:spcAft>
                <a:spcPts val="0"/>
              </a:spcAft>
            </a:pPr>
            <a:r>
              <a:rPr sz="1100" b="1">
                <a:solidFill>
                  <a:srgbClr val="1B1A18"/>
                </a:solidFill>
                <a:latin typeface="Cairo"/>
                <a:cs typeface="Cairo"/>
              </a:rPr>
              <a:t>YouTube Shorts</a:t>
            </a:r>
          </a:p>
        </p:txBody>
      </p:sp>
      <p:cxnSp>
        <p:nvCxnSpPr>
          <p:cNvPr id="42" name="Connector 41"/>
          <p:cNvCxnSpPr/>
          <p:nvPr/>
        </p:nvCxnSpPr>
        <p:spPr>
          <a:xfrm>
            <a:off x="685800" y="5806440"/>
            <a:ext cx="10820095" cy="0"/>
          </a:xfrm>
          <a:prstGeom prst="bentConnector3">
            <a:avLst/>
          </a:prstGeom>
          <a:ln w="12700">
            <a:solidFill>
              <a:srgbClr val="DAD2C4"/>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85800" y="5897880"/>
            <a:ext cx="10820095" cy="45720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300" b="1">
                <a:solidFill>
                  <a:srgbClr val="1B1A18"/>
                </a:solidFill>
                <a:latin typeface="Tajawal"/>
                <a:cs typeface="Tajawal"/>
              </a:rPr>
              <a:t>جلسة واحدة ← أسبوع كامل من التوزيع. </a:t>
            </a:r>
            <a:r>
              <a:rPr sz="1300" b="0">
                <a:solidFill>
                  <a:srgbClr val="4A473F"/>
                </a:solidFill>
                <a:latin typeface="Tajawal"/>
                <a:cs typeface="Tajawal"/>
              </a:rPr>
              <a:t>الثقل التحريري يُعيد ملء القمع دون تسجيل يومي.</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11</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نموذج الإنتاج والقواعد التحريرية</a:t>
            </a:r>
          </a:p>
        </p:txBody>
      </p:sp>
      <p:sp>
        <p:nvSpPr>
          <p:cNvPr id="10" name="TextBox 9"/>
          <p:cNvSpPr txBox="1"/>
          <p:nvPr/>
        </p:nvSpPr>
        <p:spPr>
          <a:xfrm>
            <a:off x="6019495" y="1234440"/>
            <a:ext cx="5486400" cy="457200"/>
          </a:xfrm>
          <a:prstGeom prst="rect">
            <a:avLst/>
          </a:prstGeom>
          <a:noFill/>
        </p:spPr>
        <p:txBody>
          <a:bodyPr wrap="square" anchor="t" lIns="25400" rIns="25400" tIns="25400" bIns="25400">
            <a:spAutoFit/>
          </a:bodyPr>
          <a:lstStyle/>
          <a:p>
            <a:pPr algn="r" rtl="1">
              <a:lnSpc>
                <a:spcPct val="115000"/>
              </a:lnSpc>
              <a:spcBef>
                <a:spcPts val="0"/>
              </a:spcBef>
              <a:spcAft>
                <a:spcPts val="600"/>
              </a:spcAft>
            </a:pPr>
            <a:r>
              <a:rPr sz="1700" b="1">
                <a:solidFill>
                  <a:srgbClr val="1B1A18"/>
                </a:solidFill>
                <a:latin typeface="Cairo"/>
                <a:cs typeface="Cairo"/>
              </a:rPr>
              <a:t>الإيقاع والإنتاج</a:t>
            </a:r>
          </a:p>
          <a:p>
            <a:pPr algn="r" rtl="1">
              <a:lnSpc>
                <a:spcPct val="125000"/>
              </a:lnSpc>
              <a:spcBef>
                <a:spcPts val="0"/>
              </a:spcBef>
              <a:spcAft>
                <a:spcPts val="800"/>
              </a:spcAft>
            </a:pPr>
            <a:r>
              <a:rPr sz="1300" b="0">
                <a:solidFill>
                  <a:srgbClr val="4A473F"/>
                </a:solidFill>
                <a:latin typeface="Tajawal"/>
                <a:cs typeface="Tajawal"/>
              </a:rPr>
              <a:t>▪  حلقة رئيسية أسبوعية — بث في ليلة ثابتة (الأحد/الاثنين).</a:t>
            </a:r>
          </a:p>
          <a:p>
            <a:pPr algn="r" rtl="1">
              <a:lnSpc>
                <a:spcPct val="125000"/>
              </a:lnSpc>
              <a:spcBef>
                <a:spcPts val="0"/>
              </a:spcBef>
              <a:spcAft>
                <a:spcPts val="800"/>
              </a:spcAft>
            </a:pPr>
            <a:r>
              <a:rPr sz="1300" b="0">
                <a:solidFill>
                  <a:srgbClr val="4A473F"/>
                </a:solidFill>
                <a:latin typeface="Tajawal"/>
                <a:cs typeface="Tajawal"/>
              </a:rPr>
              <a:t>▪  تسجيل حلقتين كل أسبوعين في يوم استوديو واحد.</a:t>
            </a:r>
          </a:p>
          <a:p>
            <a:pPr algn="r" rtl="1">
              <a:lnSpc>
                <a:spcPct val="125000"/>
              </a:lnSpc>
              <a:spcBef>
                <a:spcPts val="0"/>
              </a:spcBef>
              <a:spcAft>
                <a:spcPts val="800"/>
              </a:spcAft>
            </a:pPr>
            <a:r>
              <a:rPr sz="1300" b="0">
                <a:solidFill>
                  <a:srgbClr val="4A473F"/>
                </a:solidFill>
                <a:latin typeface="Tajawal"/>
                <a:cs typeface="Tajawal"/>
              </a:rPr>
              <a:t>▪  جدول نشر ثابت ومنتظم لتكريس عادة المشاهدة.</a:t>
            </a:r>
          </a:p>
          <a:p>
            <a:pPr algn="r" rtl="1">
              <a:lnSpc>
                <a:spcPct val="125000"/>
              </a:lnSpc>
              <a:spcBef>
                <a:spcPts val="0"/>
              </a:spcBef>
              <a:spcAft>
                <a:spcPts val="800"/>
              </a:spcAft>
            </a:pPr>
            <a:r>
              <a:rPr sz="1300" b="0">
                <a:solidFill>
                  <a:srgbClr val="4A473F"/>
                </a:solidFill>
                <a:latin typeface="Tajawal"/>
                <a:cs typeface="Tajawal"/>
              </a:rPr>
              <a:t>▪  حلقات «سريعة» عند حدث استثنائي لتبدو الفرنشايز حيّة.</a:t>
            </a:r>
          </a:p>
        </p:txBody>
      </p:sp>
      <p:sp>
        <p:nvSpPr>
          <p:cNvPr id="11" name="TextBox 10"/>
          <p:cNvSpPr txBox="1"/>
          <p:nvPr/>
        </p:nvSpPr>
        <p:spPr>
          <a:xfrm>
            <a:off x="685800" y="1234440"/>
            <a:ext cx="5212080" cy="45720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700" b="1">
                <a:solidFill>
                  <a:srgbClr val="1B1A18"/>
                </a:solidFill>
                <a:latin typeface="Cairo"/>
                <a:cs typeface="Cairo"/>
              </a:rPr>
              <a:t>ثلاث قواعد تحمي الفرنشايز</a:t>
            </a:r>
          </a:p>
        </p:txBody>
      </p:sp>
      <p:sp>
        <p:nvSpPr>
          <p:cNvPr id="12" name="Rounded Rectangle 11"/>
          <p:cNvSpPr/>
          <p:nvPr/>
        </p:nvSpPr>
        <p:spPr>
          <a:xfrm>
            <a:off x="685800" y="1828800"/>
            <a:ext cx="5212080" cy="128016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1975104"/>
            <a:ext cx="4809744" cy="1005839"/>
          </a:xfrm>
          <a:prstGeom prst="rect">
            <a:avLst/>
          </a:prstGeom>
          <a:noFill/>
        </p:spPr>
        <p:txBody>
          <a:bodyPr wrap="square" anchor="t" lIns="25400" rIns="25400" tIns="25400" bIns="25400">
            <a:spAutoFit/>
          </a:bodyPr>
          <a:lstStyle/>
          <a:p>
            <a:pPr algn="r" rtl="1">
              <a:lnSpc>
                <a:spcPct val="115000"/>
              </a:lnSpc>
              <a:spcBef>
                <a:spcPts val="0"/>
              </a:spcBef>
              <a:spcAft>
                <a:spcPts val="200"/>
              </a:spcAft>
            </a:pPr>
            <a:r>
              <a:rPr sz="1300" b="1">
                <a:solidFill>
                  <a:srgbClr val="B01E2E"/>
                </a:solidFill>
                <a:latin typeface="Cairo"/>
                <a:cs typeface="Cairo"/>
              </a:rPr>
              <a:t>01</a:t>
            </a:r>
          </a:p>
          <a:p>
            <a:pPr algn="r" rtl="1">
              <a:lnSpc>
                <a:spcPct val="105000"/>
              </a:lnSpc>
              <a:spcBef>
                <a:spcPts val="0"/>
              </a:spcBef>
              <a:spcAft>
                <a:spcPts val="400"/>
              </a:spcAft>
            </a:pPr>
            <a:r>
              <a:rPr sz="1550" b="1">
                <a:solidFill>
                  <a:srgbClr val="1B1A18"/>
                </a:solidFill>
                <a:latin typeface="Cairo"/>
                <a:cs typeface="Cairo"/>
              </a:rPr>
              <a:t>ضيف واحد، قرار واحد</a:t>
            </a:r>
          </a:p>
          <a:p>
            <a:pPr algn="r" rtl="1">
              <a:lnSpc>
                <a:spcPct val="115000"/>
              </a:lnSpc>
              <a:spcBef>
                <a:spcPts val="0"/>
              </a:spcBef>
              <a:spcAft>
                <a:spcPts val="0"/>
              </a:spcAft>
            </a:pPr>
            <a:r>
              <a:rPr sz="1150" b="0">
                <a:solidFill>
                  <a:srgbClr val="4A473F"/>
                </a:solidFill>
                <a:latin typeface="Tajawal"/>
                <a:cs typeface="Tajawal"/>
              </a:rPr>
              <a:t>لا لجان نقاش، ولا استعراض مسيرة مهنية.</a:t>
            </a:r>
          </a:p>
        </p:txBody>
      </p:sp>
      <p:sp>
        <p:nvSpPr>
          <p:cNvPr id="14" name="Rounded Rectangle 13"/>
          <p:cNvSpPr/>
          <p:nvPr/>
        </p:nvSpPr>
        <p:spPr>
          <a:xfrm>
            <a:off x="685800" y="3246120"/>
            <a:ext cx="5212080" cy="128016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3392424"/>
            <a:ext cx="4809744" cy="1005839"/>
          </a:xfrm>
          <a:prstGeom prst="rect">
            <a:avLst/>
          </a:prstGeom>
          <a:noFill/>
        </p:spPr>
        <p:txBody>
          <a:bodyPr wrap="square" anchor="t" lIns="25400" rIns="25400" tIns="25400" bIns="25400">
            <a:spAutoFit/>
          </a:bodyPr>
          <a:lstStyle/>
          <a:p>
            <a:pPr algn="r" rtl="1">
              <a:lnSpc>
                <a:spcPct val="115000"/>
              </a:lnSpc>
              <a:spcBef>
                <a:spcPts val="0"/>
              </a:spcBef>
              <a:spcAft>
                <a:spcPts val="200"/>
              </a:spcAft>
            </a:pPr>
            <a:r>
              <a:rPr sz="1300" b="1">
                <a:solidFill>
                  <a:srgbClr val="B01E2E"/>
                </a:solidFill>
                <a:latin typeface="Cairo"/>
                <a:cs typeface="Cairo"/>
              </a:rPr>
              <a:t>02</a:t>
            </a:r>
          </a:p>
          <a:p>
            <a:pPr algn="r" rtl="1">
              <a:lnSpc>
                <a:spcPct val="105000"/>
              </a:lnSpc>
              <a:spcBef>
                <a:spcPts val="0"/>
              </a:spcBef>
              <a:spcAft>
                <a:spcPts val="400"/>
              </a:spcAft>
            </a:pPr>
            <a:r>
              <a:rPr sz="1550" b="1">
                <a:solidFill>
                  <a:srgbClr val="1B1A18"/>
                </a:solidFill>
                <a:latin typeface="Cairo"/>
                <a:cs typeface="Cairo"/>
              </a:rPr>
              <a:t>الكرسي المقابل غير قابل للتفاوض</a:t>
            </a:r>
          </a:p>
          <a:p>
            <a:pPr algn="r" rtl="1">
              <a:lnSpc>
                <a:spcPct val="115000"/>
              </a:lnSpc>
              <a:spcBef>
                <a:spcPts val="0"/>
              </a:spcBef>
              <a:spcAft>
                <a:spcPts val="0"/>
              </a:spcAft>
            </a:pPr>
            <a:r>
              <a:rPr sz="1150" b="0">
                <a:solidFill>
                  <a:srgbClr val="4A473F"/>
                </a:solidFill>
                <a:latin typeface="Tajawal"/>
                <a:cs typeface="Tajawal"/>
              </a:rPr>
              <a:t>حتى مع أرفع الضيوف — وإلا مات مؤشر الاستقلالية.</a:t>
            </a:r>
          </a:p>
        </p:txBody>
      </p:sp>
      <p:sp>
        <p:nvSpPr>
          <p:cNvPr id="16" name="Rounded Rectangle 15"/>
          <p:cNvSpPr/>
          <p:nvPr/>
        </p:nvSpPr>
        <p:spPr>
          <a:xfrm>
            <a:off x="685800" y="4663440"/>
            <a:ext cx="5212080" cy="128016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4809744"/>
            <a:ext cx="4809744" cy="1005839"/>
          </a:xfrm>
          <a:prstGeom prst="rect">
            <a:avLst/>
          </a:prstGeom>
          <a:noFill/>
        </p:spPr>
        <p:txBody>
          <a:bodyPr wrap="square" anchor="t" lIns="25400" rIns="25400" tIns="25400" bIns="25400">
            <a:spAutoFit/>
          </a:bodyPr>
          <a:lstStyle/>
          <a:p>
            <a:pPr algn="r" rtl="1">
              <a:lnSpc>
                <a:spcPct val="115000"/>
              </a:lnSpc>
              <a:spcBef>
                <a:spcPts val="0"/>
              </a:spcBef>
              <a:spcAft>
                <a:spcPts val="200"/>
              </a:spcAft>
            </a:pPr>
            <a:r>
              <a:rPr sz="1300" b="1">
                <a:solidFill>
                  <a:srgbClr val="B01E2E"/>
                </a:solidFill>
                <a:latin typeface="Cairo"/>
                <a:cs typeface="Cairo"/>
              </a:rPr>
              <a:t>03</a:t>
            </a:r>
          </a:p>
          <a:p>
            <a:pPr algn="r" rtl="1">
              <a:lnSpc>
                <a:spcPct val="105000"/>
              </a:lnSpc>
              <a:spcBef>
                <a:spcPts val="0"/>
              </a:spcBef>
              <a:spcAft>
                <a:spcPts val="400"/>
              </a:spcAft>
            </a:pPr>
            <a:r>
              <a:rPr sz="1550" b="1">
                <a:solidFill>
                  <a:srgbClr val="1B1A18"/>
                </a:solidFill>
                <a:latin typeface="Cairo"/>
                <a:cs typeface="Cairo"/>
              </a:rPr>
              <a:t>تنتهي كل حلقة بمال المشاهد</a:t>
            </a:r>
          </a:p>
          <a:p>
            <a:pPr algn="r" rtl="1">
              <a:lnSpc>
                <a:spcPct val="115000"/>
              </a:lnSpc>
              <a:spcBef>
                <a:spcPts val="0"/>
              </a:spcBef>
              <a:spcAft>
                <a:spcPts val="0"/>
              </a:spcAft>
            </a:pPr>
            <a:r>
              <a:rPr sz="1150" b="0">
                <a:solidFill>
                  <a:srgbClr val="4A473F"/>
                </a:solidFill>
                <a:latin typeface="Tajawal"/>
                <a:cs typeface="Tajawal"/>
              </a:rPr>
              <a:t>لا بمجد الضيف — هذا الفارق الجوهري.</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12</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الموسم الأول · 12 حلقة مبنيّة على قصص حيّة</a:t>
            </a:r>
          </a:p>
        </p:txBody>
      </p:sp>
      <p:graphicFrame>
        <p:nvGraphicFramePr>
          <p:cNvPr id="10" name="Table 9"/>
          <p:cNvGraphicFramePr>
            <a:graphicFrameLocks noGrp="1"/>
          </p:cNvGraphicFramePr>
          <p:nvPr/>
        </p:nvGraphicFramePr>
        <p:xfrm>
          <a:off x="685800" y="1417320"/>
          <a:ext cx="10817352" cy="1188720"/>
        </p:xfrm>
        <a:graphic>
          <a:graphicData uri="http://schemas.openxmlformats.org/drawingml/2006/table">
            <a:tbl>
              <a:tblPr bandRow="1">
                <a:tableStyleId>{5C22544A-7EE6-4342-B048-85BDC9FD1C3A}</a:tableStyleId>
              </a:tblPr>
              <a:tblGrid>
                <a:gridCol w="502920"/>
                <a:gridCol w="7360920"/>
                <a:gridCol w="2953512"/>
              </a:tblGrid>
              <a:tr h="91440">
                <a:tc>
                  <a:txBody>
                    <a:bodyPr wrap="square"/>
                    <a:lstStyle/>
                    <a:p>
                      <a:pPr algn="ctr" rtl="1">
                        <a:lnSpc>
                          <a:spcPct val="105000"/>
                        </a:lnSpc>
                        <a:spcBef>
                          <a:spcPts val="0"/>
                        </a:spcBef>
                        <a:spcAft>
                          <a:spcPts val="0"/>
                        </a:spcAft>
                      </a:pPr>
                      <a:r>
                        <a:rPr sz="1100" b="1">
                          <a:solidFill>
                            <a:srgbClr val="FFFFFF"/>
                          </a:solidFill>
                          <a:latin typeface="Cairo"/>
                          <a:cs typeface="Cairo"/>
                        </a:rPr>
                        <a:t>#</a:t>
                      </a:r>
                    </a:p>
                  </a:txBody>
                  <a:tcPr marL="76200" marR="76200" marT="12700" marB="12700" anchor="ctr">
                    <a:solidFill>
                      <a:srgbClr val="1B1A18"/>
                    </a:solidFill>
                  </a:tcPr>
                </a:tc>
                <a:tc>
                  <a:txBody>
                    <a:bodyPr wrap="square"/>
                    <a:lstStyle/>
                    <a:p>
                      <a:pPr algn="r" rtl="1">
                        <a:lnSpc>
                          <a:spcPct val="105000"/>
                        </a:lnSpc>
                        <a:spcBef>
                          <a:spcPts val="0"/>
                        </a:spcBef>
                        <a:spcAft>
                          <a:spcPts val="0"/>
                        </a:spcAft>
                      </a:pPr>
                      <a:r>
                        <a:rPr sz="1100" b="1">
                          <a:solidFill>
                            <a:srgbClr val="FFFFFF"/>
                          </a:solidFill>
                          <a:latin typeface="Cairo"/>
                          <a:cs typeface="Cairo"/>
                        </a:rPr>
                        <a:t>الضيف / القرار</a:t>
                      </a:r>
                    </a:p>
                  </a:txBody>
                  <a:tcPr marL="76200" marR="76200" marT="12700" marB="12700" anchor="ctr">
                    <a:solidFill>
                      <a:srgbClr val="1B1A18"/>
                    </a:solidFill>
                  </a:tcPr>
                </a:tc>
                <a:tc>
                  <a:txBody>
                    <a:bodyPr wrap="square"/>
                    <a:lstStyle/>
                    <a:p>
                      <a:pPr algn="r" rtl="1">
                        <a:lnSpc>
                          <a:spcPct val="105000"/>
                        </a:lnSpc>
                        <a:spcBef>
                          <a:spcPts val="0"/>
                        </a:spcBef>
                        <a:spcAft>
                          <a:spcPts val="0"/>
                        </a:spcAft>
                      </a:pPr>
                      <a:r>
                        <a:rPr sz="1100" b="1">
                          <a:solidFill>
                            <a:srgbClr val="FFFFFF"/>
                          </a:solidFill>
                          <a:latin typeface="Cairo"/>
                          <a:cs typeface="Cairo"/>
                        </a:rPr>
                        <a:t>الكرسي المقابل</a:t>
                      </a:r>
                    </a:p>
                  </a:txBody>
                  <a:tcPr marL="76200" marR="76200" marT="12700" marB="12700" anchor="ctr">
                    <a:solidFill>
                      <a:srgbClr val="1B1A18"/>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1</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قيادة صندوق الاستثمارات العامة — التحوّل 2026-30 نحو 80% محلي</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مدير تخصيص عالمي</a:t>
                      </a:r>
                    </a:p>
                  </a:txBody>
                  <a:tcPr marL="76200" marR="76200" marT="12700" marB="12700" anchor="ctr">
                    <a:solidFill>
                      <a:srgbClr val="F6F2EC"/>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2</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صندوق سيادي / مبادلة — الأسواق الخاصة المُرمَّزة لصغار المستثمرين</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متشكك من الأسهم الخاصة</a:t>
                      </a:r>
                    </a:p>
                  </a:txBody>
                  <a:tcPr marL="76200" marR="76200" marT="12700" marB="12700" anchor="ctr">
                    <a:solidFill>
                      <a:srgbClr val="FFFFFF"/>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3</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مؤسِّس يونيكورن / رأس مال مغامر — أول رهان كبير في الخليج</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مؤسِّس لم يجمع تمويلًا</a:t>
                      </a:r>
                    </a:p>
                  </a:txBody>
                  <a:tcPr marL="76200" marR="76200" marT="12700" marB="12700" anchor="ctr">
                    <a:solidFill>
                      <a:srgbClr val="F6F2EC"/>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4</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شركة عائلية وورثتها — نقل الثروة (الحلقة المحورية)</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الأجيال تتحدّى بعضها</a:t>
                      </a:r>
                    </a:p>
                  </a:txBody>
                  <a:tcPr marL="76200" marR="76200" marT="12700" marB="12700" anchor="ctr">
                    <a:solidFill>
                      <a:srgbClr val="FFFFFF"/>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5</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البنك المركزي / VARA — قواعد الأصول الرقمية والدرهم المستقر</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رائد أعمال تشفير</a:t>
                      </a:r>
                    </a:p>
                  </a:txBody>
                  <a:tcPr marL="76200" marR="76200" marT="12700" marB="12700" anchor="ctr">
                    <a:solidFill>
                      <a:srgbClr val="F6F2EC"/>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6</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رئيس شركة مدرجة — تخصيص رأسمال (إعادة شراء، توسّع، أرباح)</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مستثمر ناشط أو محلل</a:t>
                      </a:r>
                    </a:p>
                  </a:txBody>
                  <a:tcPr marL="76200" marR="76200" marT="12700" marB="12700" anchor="ctr">
                    <a:solidFill>
                      <a:srgbClr val="FFFFFF"/>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7</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تمويل المنشآت واللوجستيات — الائتمان وتكاليف التجارة</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صاحب منشأة صغيرة</a:t>
                      </a:r>
                    </a:p>
                  </a:txBody>
                  <a:tcPr marL="76200" marR="76200" marT="12700" marB="12700" anchor="ctr">
                    <a:solidFill>
                      <a:srgbClr val="F6F2EC"/>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8</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قائد في العقارات / التكنولوجيا العقارية — العقار المُرمَّز</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وسيط تقليدي أو منظِّم</a:t>
                      </a:r>
                    </a:p>
                  </a:txBody>
                  <a:tcPr marL="76200" marR="76200" marT="12700" marB="12700" anchor="ctr">
                    <a:solidFill>
                      <a:srgbClr val="FFFFFF"/>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9</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صانع سياسات / مصرفي مصري — استقرار الجنيه والمدّخر المغترب</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مدّخر خسر من العملة</a:t>
                      </a:r>
                    </a:p>
                  </a:txBody>
                  <a:tcPr marL="76200" marR="76200" marT="12700" marB="12700" anchor="ctr">
                    <a:solidFill>
                      <a:srgbClr val="F6F2EC"/>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10</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مدير صندوق للمغتربين — توجيه رأس المال العربي نحو المنطقة</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مستثمر مغترب احترق</a:t>
                      </a:r>
                    </a:p>
                  </a:txBody>
                  <a:tcPr marL="76200" marR="76200" marT="12700" marB="12700" anchor="ctr">
                    <a:solidFill>
                      <a:srgbClr val="FFFFFF"/>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11</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امرأة تدير مكتب عائلة أو صندوقًا — قرار تخصيص حقيقي</a:t>
                      </a:r>
                    </a:p>
                  </a:txBody>
                  <a:tcPr marL="76200" marR="76200" marT="12700" marB="12700" anchor="ctr">
                    <a:solidFill>
                      <a:srgbClr val="F6F2EC"/>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نظير أو عضو مجلس إدارة</a:t>
                      </a:r>
                    </a:p>
                  </a:txBody>
                  <a:tcPr marL="76200" marR="76200" marT="12700" marB="12700" anchor="ctr">
                    <a:solidFill>
                      <a:srgbClr val="F6F2EC"/>
                    </a:solidFill>
                  </a:tcPr>
                </a:tc>
              </a:tr>
              <a:tr h="91440">
                <a:tc>
                  <a:txBody>
                    <a:bodyPr wrap="square"/>
                    <a:lstStyle/>
                    <a:p>
                      <a:pPr algn="ctr" rtl="1">
                        <a:lnSpc>
                          <a:spcPct val="105000"/>
                        </a:lnSpc>
                        <a:spcBef>
                          <a:spcPts val="0"/>
                        </a:spcBef>
                        <a:spcAft>
                          <a:spcPts val="0"/>
                        </a:spcAft>
                      </a:pPr>
                      <a:r>
                        <a:rPr sz="1050" b="1">
                          <a:solidFill>
                            <a:srgbClr val="B01E2E"/>
                          </a:solidFill>
                          <a:latin typeface="Cairo"/>
                          <a:cs typeface="Cairo"/>
                        </a:rPr>
                        <a:t>12</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1B1A18"/>
                          </a:solidFill>
                          <a:latin typeface="Tajawal"/>
                          <a:cs typeface="Tajawal"/>
                        </a:rPr>
                        <a:t>ختام الموسم: وزير / شخصية بمستوى FII — الرهان الكبير للعام</a:t>
                      </a:r>
                    </a:p>
                  </a:txBody>
                  <a:tcPr marL="76200" marR="76200" marT="12700" marB="12700" anchor="ctr">
                    <a:solidFill>
                      <a:srgbClr val="FFFFFF"/>
                    </a:solidFill>
                  </a:tcPr>
                </a:tc>
                <a:tc>
                  <a:txBody>
                    <a:bodyPr wrap="square"/>
                    <a:lstStyle/>
                    <a:p>
                      <a:pPr algn="r" rtl="1">
                        <a:lnSpc>
                          <a:spcPct val="105000"/>
                        </a:lnSpc>
                        <a:spcBef>
                          <a:spcPts val="0"/>
                        </a:spcBef>
                        <a:spcAft>
                          <a:spcPts val="0"/>
                        </a:spcAft>
                      </a:pPr>
                      <a:r>
                        <a:rPr sz="1050" b="0">
                          <a:solidFill>
                            <a:srgbClr val="4A473F"/>
                          </a:solidFill>
                          <a:latin typeface="Tajawal"/>
                          <a:cs typeface="Tajawal"/>
                        </a:rPr>
                        <a:t>اقتصادي مغاير للسائد</a:t>
                      </a:r>
                    </a:p>
                  </a:txBody>
                  <a:tcPr marL="76200" marR="76200" marT="12700" marB="12700" anchor="c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13</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الديكور والهوية البصرية · Set Design</a:t>
            </a:r>
          </a:p>
        </p:txBody>
      </p:sp>
      <p:sp>
        <p:nvSpPr>
          <p:cNvPr id="10" name="Rounded Rectangle 9"/>
          <p:cNvSpPr/>
          <p:nvPr/>
        </p:nvSpPr>
        <p:spPr>
          <a:xfrm>
            <a:off x="685800" y="1463040"/>
            <a:ext cx="5394960" cy="4572000"/>
          </a:xfrm>
          <a:prstGeom prst="roundRect">
            <a:avLst>
              <a:gd name="adj" fmla="val 6000"/>
            </a:avLst>
          </a:prstGeom>
          <a:solidFill>
            <a:srgbClr val="EFE9DF"/>
          </a:solidFill>
          <a:ln w="1524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029200" cy="4572000"/>
          </a:xfrm>
          <a:prstGeom prst="rect">
            <a:avLst/>
          </a:prstGeom>
          <a:noFill/>
        </p:spPr>
        <p:txBody>
          <a:bodyPr wrap="square" anchor="ctr" lIns="25400" rIns="25400" tIns="25400" bIns="25400">
            <a:spAutoFit/>
          </a:bodyPr>
          <a:lstStyle/>
          <a:p>
            <a:pPr algn="ctr" rtl="1">
              <a:lnSpc>
                <a:spcPct val="115000"/>
              </a:lnSpc>
              <a:spcBef>
                <a:spcPts val="0"/>
              </a:spcBef>
              <a:spcAft>
                <a:spcPts val="200"/>
              </a:spcAft>
            </a:pPr>
            <a:r>
              <a:rPr sz="1500" b="1">
                <a:solidFill>
                  <a:srgbClr val="4A473F"/>
                </a:solidFill>
                <a:latin typeface="Cairo"/>
                <a:cs typeface="Cairo"/>
              </a:rPr>
              <a:t>◱  صورة</a:t>
            </a:r>
          </a:p>
          <a:p>
            <a:pPr algn="ctr" rtl="1">
              <a:lnSpc>
                <a:spcPct val="115000"/>
              </a:lnSpc>
              <a:spcBef>
                <a:spcPts val="0"/>
              </a:spcBef>
              <a:spcAft>
                <a:spcPts val="0"/>
              </a:spcAft>
            </a:pPr>
            <a:r>
              <a:rPr sz="1150" b="0">
                <a:solidFill>
                  <a:srgbClr val="4A473F"/>
                </a:solidFill>
                <a:latin typeface="Tajawal"/>
                <a:cs typeface="Tajawal"/>
              </a:rPr>
              <a:t>الطاولة نفسها عند حضور الضيف — طاولة وكراسٍ عالية</a:t>
            </a:r>
          </a:p>
        </p:txBody>
      </p:sp>
      <p:sp>
        <p:nvSpPr>
          <p:cNvPr id="12" name="TextBox 11"/>
          <p:cNvSpPr txBox="1"/>
          <p:nvPr/>
        </p:nvSpPr>
        <p:spPr>
          <a:xfrm>
            <a:off x="6293815" y="1554480"/>
            <a:ext cx="521208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3200" b="1">
                <a:solidFill>
                  <a:srgbClr val="1B1A18"/>
                </a:solidFill>
                <a:latin typeface="Cairo"/>
                <a:cs typeface="Cairo"/>
              </a:rPr>
              <a:t>بساطة نقيّة…</a:t>
            </a:r>
          </a:p>
          <a:p>
            <a:pPr algn="r" rtl="1">
              <a:lnSpc>
                <a:spcPct val="102000"/>
              </a:lnSpc>
              <a:spcBef>
                <a:spcPts val="0"/>
              </a:spcBef>
              <a:spcAft>
                <a:spcPts val="200"/>
              </a:spcAft>
            </a:pPr>
            <a:r>
              <a:rPr sz="3200" b="1">
                <a:solidFill>
                  <a:srgbClr val="1B1A18"/>
                </a:solidFill>
                <a:latin typeface="Cairo"/>
                <a:cs typeface="Cairo"/>
              </a:rPr>
              <a:t>ودفء طبيعي.</a:t>
            </a:r>
          </a:p>
        </p:txBody>
      </p:sp>
      <p:sp>
        <p:nvSpPr>
          <p:cNvPr id="13" name="TextBox 12"/>
          <p:cNvSpPr txBox="1"/>
          <p:nvPr/>
        </p:nvSpPr>
        <p:spPr>
          <a:xfrm>
            <a:off x="6293815" y="2834640"/>
            <a:ext cx="5212080" cy="3108960"/>
          </a:xfrm>
          <a:prstGeom prst="rect">
            <a:avLst/>
          </a:prstGeom>
          <a:noFill/>
        </p:spPr>
        <p:txBody>
          <a:bodyPr wrap="square" anchor="t" lIns="25400" rIns="25400" tIns="25400" bIns="25400">
            <a:spAutoFit/>
          </a:bodyPr>
          <a:lstStyle/>
          <a:p>
            <a:pPr algn="r" rtl="1">
              <a:lnSpc>
                <a:spcPct val="140000"/>
              </a:lnSpc>
              <a:spcBef>
                <a:spcPts val="0"/>
              </a:spcBef>
              <a:spcAft>
                <a:spcPts val="1000"/>
              </a:spcAft>
            </a:pPr>
            <a:r>
              <a:rPr sz="1350" b="0">
                <a:solidFill>
                  <a:srgbClr val="4A473F"/>
                </a:solidFill>
                <a:latin typeface="Tajawal"/>
                <a:cs typeface="Tajawal"/>
              </a:rPr>
              <a:t>استوديو أبيض بالكامل، بسيط ونظيف، طاولة عالية وكراسٍ عالية. المقدِّمة تنظر إلى الكاميرا في فقراتها المنفردة، وتنتقل إلى الطاولة نفسها عند وصول الضيف.</a:t>
            </a:r>
          </a:p>
          <a:p>
            <a:pPr algn="r" rtl="1">
              <a:lnSpc>
                <a:spcPct val="130000"/>
              </a:lnSpc>
              <a:spcBef>
                <a:spcPts val="0"/>
              </a:spcBef>
              <a:spcAft>
                <a:spcPts val="700"/>
              </a:spcAft>
            </a:pPr>
            <a:r>
              <a:rPr sz="1250" b="1">
                <a:solidFill>
                  <a:srgbClr val="1B1A18"/>
                </a:solidFill>
                <a:latin typeface="Tajawal"/>
                <a:cs typeface="Tajawal"/>
              </a:rPr>
              <a:t>▪  القاعدة: </a:t>
            </a:r>
            <a:r>
              <a:rPr sz="1250" b="0">
                <a:solidFill>
                  <a:srgbClr val="4A473F"/>
                </a:solidFill>
                <a:latin typeface="Tajawal"/>
                <a:cs typeface="Tajawal"/>
              </a:rPr>
              <a:t>أبيض دافئ + عنصر طبيعي واحد (خشب/حجر) يمنح الدفء دون ازدحام.</a:t>
            </a:r>
          </a:p>
          <a:p>
            <a:pPr algn="r" rtl="1">
              <a:lnSpc>
                <a:spcPct val="130000"/>
              </a:lnSpc>
              <a:spcBef>
                <a:spcPts val="0"/>
              </a:spcBef>
              <a:spcAft>
                <a:spcPts val="700"/>
              </a:spcAft>
            </a:pPr>
            <a:r>
              <a:rPr sz="1250" b="1">
                <a:solidFill>
                  <a:srgbClr val="1B1A18"/>
                </a:solidFill>
                <a:latin typeface="Tajawal"/>
                <a:cs typeface="Tajawal"/>
              </a:rPr>
              <a:t>▪  الإضاءة: </a:t>
            </a:r>
            <a:r>
              <a:rPr sz="1250" b="0">
                <a:solidFill>
                  <a:srgbClr val="4A473F"/>
                </a:solidFill>
                <a:latin typeface="Tajawal"/>
                <a:cs typeface="Tajawal"/>
              </a:rPr>
              <a:t>ألواح ضوء معمارية ناعمة تمنح العمق بدل الجدران المزخرفة.</a:t>
            </a:r>
          </a:p>
          <a:p>
            <a:pPr algn="r" rtl="1">
              <a:lnSpc>
                <a:spcPct val="130000"/>
              </a:lnSpc>
              <a:spcBef>
                <a:spcPts val="0"/>
              </a:spcBef>
              <a:spcAft>
                <a:spcPts val="700"/>
              </a:spcAft>
            </a:pPr>
            <a:r>
              <a:rPr sz="1250" b="1">
                <a:solidFill>
                  <a:srgbClr val="1B1A18"/>
                </a:solidFill>
                <a:latin typeface="Tajawal"/>
                <a:cs typeface="Tajawal"/>
              </a:rPr>
              <a:t>▪  المبدأ: </a:t>
            </a:r>
            <a:r>
              <a:rPr sz="1250" b="0">
                <a:solidFill>
                  <a:srgbClr val="4A473F"/>
                </a:solidFill>
                <a:latin typeface="Tajawal"/>
                <a:cs typeface="Tajawal"/>
              </a:rPr>
              <a:t>«رقيّ مع راهنية» — ثابت وفاخر لا موضة عابرة.</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14</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لوحة الخامات · Material Palette</a:t>
            </a:r>
          </a:p>
        </p:txBody>
      </p:sp>
      <p:sp>
        <p:nvSpPr>
          <p:cNvPr id="10" name="TextBox 9"/>
          <p:cNvSpPr txBox="1"/>
          <p:nvPr/>
        </p:nvSpPr>
        <p:spPr>
          <a:xfrm>
            <a:off x="685800" y="1371600"/>
            <a:ext cx="521208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2400" b="1">
                <a:solidFill>
                  <a:srgbClr val="1B1A18"/>
                </a:solidFill>
                <a:latin typeface="Cairo"/>
                <a:cs typeface="Cairo"/>
              </a:rPr>
              <a:t>دفء طبيعي على قاعدة بيضاء</a:t>
            </a:r>
          </a:p>
        </p:txBody>
      </p:sp>
      <p:sp>
        <p:nvSpPr>
          <p:cNvPr id="11" name="TextBox 10"/>
          <p:cNvSpPr txBox="1"/>
          <p:nvPr/>
        </p:nvSpPr>
        <p:spPr>
          <a:xfrm>
            <a:off x="685800" y="2148840"/>
            <a:ext cx="5212080" cy="1280160"/>
          </a:xfrm>
          <a:prstGeom prst="rect">
            <a:avLst/>
          </a:prstGeom>
          <a:noFill/>
        </p:spPr>
        <p:txBody>
          <a:bodyPr wrap="square" anchor="t" lIns="25400" rIns="25400" tIns="25400" bIns="25400">
            <a:spAutoFit/>
          </a:bodyPr>
          <a:lstStyle/>
          <a:p>
            <a:pPr algn="r" rtl="1">
              <a:lnSpc>
                <a:spcPct val="140000"/>
              </a:lnSpc>
              <a:spcBef>
                <a:spcPts val="0"/>
              </a:spcBef>
              <a:spcAft>
                <a:spcPts val="0"/>
              </a:spcAft>
            </a:pPr>
            <a:r>
              <a:rPr sz="1350" b="0">
                <a:solidFill>
                  <a:srgbClr val="4A473F"/>
                </a:solidFill>
                <a:latin typeface="Tajawal"/>
                <a:cs typeface="Tajawal"/>
              </a:rPr>
              <a:t>قاعدة بيضاء دافئة يكسرها عنصر طبيعي واحد، مع لمسة حمراء مقتصَدة تربط الهوية بـ CNN Business Arabic دون أن تسيطر.</a:t>
            </a:r>
          </a:p>
        </p:txBody>
      </p:sp>
      <p:sp>
        <p:nvSpPr>
          <p:cNvPr id="12" name="Rounded Rectangle 11"/>
          <p:cNvSpPr/>
          <p:nvPr/>
        </p:nvSpPr>
        <p:spPr>
          <a:xfrm>
            <a:off x="685800" y="3566160"/>
            <a:ext cx="914400" cy="1280160"/>
          </a:xfrm>
          <a:prstGeom prst="roundRect">
            <a:avLst>
              <a:gd name="adj" fmla="val 6000"/>
            </a:avLst>
          </a:prstGeom>
          <a:solidFill>
            <a:srgbClr val="F6F2EC"/>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892040"/>
            <a:ext cx="914400" cy="365760"/>
          </a:xfrm>
          <a:prstGeom prst="rect">
            <a:avLst/>
          </a:prstGeom>
          <a:noFill/>
        </p:spPr>
        <p:txBody>
          <a:bodyPr wrap="square" anchor="t" lIns="25400" rIns="25400" tIns="25400" bIns="25400">
            <a:spAutoFit/>
          </a:bodyPr>
          <a:lstStyle/>
          <a:p>
            <a:pPr algn="ctr" rtl="1">
              <a:lnSpc>
                <a:spcPct val="115000"/>
              </a:lnSpc>
              <a:spcBef>
                <a:spcPts val="0"/>
              </a:spcBef>
              <a:spcAft>
                <a:spcPts val="0"/>
              </a:spcAft>
            </a:pPr>
            <a:r>
              <a:rPr sz="1050" b="1">
                <a:solidFill>
                  <a:srgbClr val="1B1A18"/>
                </a:solidFill>
                <a:latin typeface="Cairo"/>
                <a:cs typeface="Cairo"/>
              </a:rPr>
              <a:t>أبيض دافئ</a:t>
            </a:r>
          </a:p>
        </p:txBody>
      </p:sp>
      <p:sp>
        <p:nvSpPr>
          <p:cNvPr id="14" name="Rounded Rectangle 13"/>
          <p:cNvSpPr/>
          <p:nvPr/>
        </p:nvSpPr>
        <p:spPr>
          <a:xfrm>
            <a:off x="1709928" y="3566160"/>
            <a:ext cx="914400" cy="1280160"/>
          </a:xfrm>
          <a:prstGeom prst="roundRect">
            <a:avLst>
              <a:gd name="adj" fmla="val 6000"/>
            </a:avLst>
          </a:prstGeom>
          <a:solidFill>
            <a:srgbClr val="E5DDCE"/>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09928" y="4892040"/>
            <a:ext cx="914400" cy="365760"/>
          </a:xfrm>
          <a:prstGeom prst="rect">
            <a:avLst/>
          </a:prstGeom>
          <a:noFill/>
        </p:spPr>
        <p:txBody>
          <a:bodyPr wrap="square" anchor="t" lIns="25400" rIns="25400" tIns="25400" bIns="25400">
            <a:spAutoFit/>
          </a:bodyPr>
          <a:lstStyle/>
          <a:p>
            <a:pPr algn="ctr" rtl="1">
              <a:lnSpc>
                <a:spcPct val="115000"/>
              </a:lnSpc>
              <a:spcBef>
                <a:spcPts val="0"/>
              </a:spcBef>
              <a:spcAft>
                <a:spcPts val="0"/>
              </a:spcAft>
            </a:pPr>
            <a:r>
              <a:rPr sz="1050" b="1">
                <a:solidFill>
                  <a:srgbClr val="1B1A18"/>
                </a:solidFill>
                <a:latin typeface="Cairo"/>
                <a:cs typeface="Cairo"/>
              </a:rPr>
              <a:t>حجر</a:t>
            </a:r>
          </a:p>
        </p:txBody>
      </p:sp>
      <p:sp>
        <p:nvSpPr>
          <p:cNvPr id="16" name="Rounded Rectangle 15"/>
          <p:cNvSpPr/>
          <p:nvPr/>
        </p:nvSpPr>
        <p:spPr>
          <a:xfrm>
            <a:off x="2734056" y="3566160"/>
            <a:ext cx="914400" cy="1280160"/>
          </a:xfrm>
          <a:prstGeom prst="roundRect">
            <a:avLst>
              <a:gd name="adj" fmla="val 6000"/>
            </a:avLst>
          </a:prstGeom>
          <a:solidFill>
            <a:srgbClr val="C7A56B"/>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34056" y="4892040"/>
            <a:ext cx="914400" cy="365760"/>
          </a:xfrm>
          <a:prstGeom prst="rect">
            <a:avLst/>
          </a:prstGeom>
          <a:noFill/>
        </p:spPr>
        <p:txBody>
          <a:bodyPr wrap="square" anchor="t" lIns="25400" rIns="25400" tIns="25400" bIns="25400">
            <a:spAutoFit/>
          </a:bodyPr>
          <a:lstStyle/>
          <a:p>
            <a:pPr algn="ctr" rtl="1">
              <a:lnSpc>
                <a:spcPct val="115000"/>
              </a:lnSpc>
              <a:spcBef>
                <a:spcPts val="0"/>
              </a:spcBef>
              <a:spcAft>
                <a:spcPts val="0"/>
              </a:spcAft>
            </a:pPr>
            <a:r>
              <a:rPr sz="1050" b="1">
                <a:solidFill>
                  <a:srgbClr val="1B1A18"/>
                </a:solidFill>
                <a:latin typeface="Cairo"/>
                <a:cs typeface="Cairo"/>
              </a:rPr>
              <a:t>سنديان</a:t>
            </a:r>
          </a:p>
        </p:txBody>
      </p:sp>
      <p:sp>
        <p:nvSpPr>
          <p:cNvPr id="18" name="Rounded Rectangle 17"/>
          <p:cNvSpPr/>
          <p:nvPr/>
        </p:nvSpPr>
        <p:spPr>
          <a:xfrm>
            <a:off x="3758184" y="3566160"/>
            <a:ext cx="914400" cy="1280160"/>
          </a:xfrm>
          <a:prstGeom prst="roundRect">
            <a:avLst>
              <a:gd name="adj" fmla="val 6000"/>
            </a:avLst>
          </a:prstGeom>
          <a:solidFill>
            <a:srgbClr val="B01E2E"/>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58184" y="4892040"/>
            <a:ext cx="914400" cy="365760"/>
          </a:xfrm>
          <a:prstGeom prst="rect">
            <a:avLst/>
          </a:prstGeom>
          <a:noFill/>
        </p:spPr>
        <p:txBody>
          <a:bodyPr wrap="square" anchor="t" lIns="25400" rIns="25400" tIns="25400" bIns="25400">
            <a:spAutoFit/>
          </a:bodyPr>
          <a:lstStyle/>
          <a:p>
            <a:pPr algn="ctr" rtl="1">
              <a:lnSpc>
                <a:spcPct val="115000"/>
              </a:lnSpc>
              <a:spcBef>
                <a:spcPts val="0"/>
              </a:spcBef>
              <a:spcAft>
                <a:spcPts val="0"/>
              </a:spcAft>
            </a:pPr>
            <a:r>
              <a:rPr sz="1050" b="1">
                <a:solidFill>
                  <a:srgbClr val="1B1A18"/>
                </a:solidFill>
                <a:latin typeface="Cairo"/>
                <a:cs typeface="Cairo"/>
              </a:rPr>
              <a:t>أحمر CNNBA</a:t>
            </a:r>
          </a:p>
        </p:txBody>
      </p:sp>
      <p:sp>
        <p:nvSpPr>
          <p:cNvPr id="20" name="Rounded Rectangle 19"/>
          <p:cNvSpPr/>
          <p:nvPr/>
        </p:nvSpPr>
        <p:spPr>
          <a:xfrm>
            <a:off x="4782312" y="3566160"/>
            <a:ext cx="914400" cy="1280160"/>
          </a:xfrm>
          <a:prstGeom prst="roundRect">
            <a:avLst>
              <a:gd name="adj" fmla="val 6000"/>
            </a:avLst>
          </a:prstGeom>
          <a:solidFill>
            <a:srgbClr val="1B1A18"/>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82312" y="4892040"/>
            <a:ext cx="914400" cy="365760"/>
          </a:xfrm>
          <a:prstGeom prst="rect">
            <a:avLst/>
          </a:prstGeom>
          <a:noFill/>
        </p:spPr>
        <p:txBody>
          <a:bodyPr wrap="square" anchor="t" lIns="25400" rIns="25400" tIns="25400" bIns="25400">
            <a:spAutoFit/>
          </a:bodyPr>
          <a:lstStyle/>
          <a:p>
            <a:pPr algn="ctr" rtl="1">
              <a:lnSpc>
                <a:spcPct val="115000"/>
              </a:lnSpc>
              <a:spcBef>
                <a:spcPts val="0"/>
              </a:spcBef>
              <a:spcAft>
                <a:spcPts val="0"/>
              </a:spcAft>
            </a:pPr>
            <a:r>
              <a:rPr sz="1050" b="1">
                <a:solidFill>
                  <a:srgbClr val="1B1A18"/>
                </a:solidFill>
                <a:latin typeface="Cairo"/>
                <a:cs typeface="Cairo"/>
              </a:rPr>
              <a:t>حبر</a:t>
            </a:r>
          </a:p>
        </p:txBody>
      </p:sp>
      <p:sp>
        <p:nvSpPr>
          <p:cNvPr id="22" name="Rounded Rectangle 21"/>
          <p:cNvSpPr/>
          <p:nvPr/>
        </p:nvSpPr>
        <p:spPr>
          <a:xfrm>
            <a:off x="6110935" y="1554480"/>
            <a:ext cx="5394960" cy="4480560"/>
          </a:xfrm>
          <a:prstGeom prst="roundRect">
            <a:avLst>
              <a:gd name="adj" fmla="val 6000"/>
            </a:avLst>
          </a:prstGeom>
          <a:solidFill>
            <a:srgbClr val="EFE9DF"/>
          </a:solidFill>
          <a:ln w="1524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3815" y="1554480"/>
            <a:ext cx="5029200" cy="4480560"/>
          </a:xfrm>
          <a:prstGeom prst="rect">
            <a:avLst/>
          </a:prstGeom>
          <a:noFill/>
        </p:spPr>
        <p:txBody>
          <a:bodyPr wrap="square" anchor="ctr" lIns="25400" rIns="25400" tIns="25400" bIns="25400">
            <a:spAutoFit/>
          </a:bodyPr>
          <a:lstStyle/>
          <a:p>
            <a:pPr algn="ctr" rtl="1">
              <a:lnSpc>
                <a:spcPct val="115000"/>
              </a:lnSpc>
              <a:spcBef>
                <a:spcPts val="0"/>
              </a:spcBef>
              <a:spcAft>
                <a:spcPts val="200"/>
              </a:spcAft>
            </a:pPr>
            <a:r>
              <a:rPr sz="1500" b="1">
                <a:solidFill>
                  <a:srgbClr val="4A473F"/>
                </a:solidFill>
                <a:latin typeface="Cairo"/>
                <a:cs typeface="Cairo"/>
              </a:rPr>
              <a:t>◱  صورة</a:t>
            </a:r>
          </a:p>
          <a:p>
            <a:pPr algn="ctr" rtl="1">
              <a:lnSpc>
                <a:spcPct val="115000"/>
              </a:lnSpc>
              <a:spcBef>
                <a:spcPts val="0"/>
              </a:spcBef>
              <a:spcAft>
                <a:spcPts val="0"/>
              </a:spcAft>
            </a:pPr>
            <a:r>
              <a:rPr sz="1150" b="0">
                <a:solidFill>
                  <a:srgbClr val="4A473F"/>
                </a:solidFill>
                <a:latin typeface="Tajawal"/>
                <a:cs typeface="Tajawal"/>
              </a:rPr>
              <a:t>لوحة الخامات</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15</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هوية الشاشة · On-screen Graphics</a:t>
            </a:r>
          </a:p>
        </p:txBody>
      </p:sp>
      <p:sp>
        <p:nvSpPr>
          <p:cNvPr id="10" name="TextBox 9"/>
          <p:cNvSpPr txBox="1"/>
          <p:nvPr/>
        </p:nvSpPr>
        <p:spPr>
          <a:xfrm>
            <a:off x="685800" y="1463040"/>
            <a:ext cx="521208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3000" b="1">
                <a:solidFill>
                  <a:srgbClr val="1B1A18"/>
                </a:solidFill>
                <a:latin typeface="Cairo"/>
                <a:cs typeface="Cairo"/>
              </a:rPr>
              <a:t>رسومات رقمية أولًا.</a:t>
            </a:r>
          </a:p>
        </p:txBody>
      </p:sp>
      <p:sp>
        <p:nvSpPr>
          <p:cNvPr id="11" name="TextBox 10"/>
          <p:cNvSpPr txBox="1"/>
          <p:nvPr/>
        </p:nvSpPr>
        <p:spPr>
          <a:xfrm>
            <a:off x="685800" y="2286000"/>
            <a:ext cx="5212080" cy="3291840"/>
          </a:xfrm>
          <a:prstGeom prst="rect">
            <a:avLst/>
          </a:prstGeom>
          <a:noFill/>
        </p:spPr>
        <p:txBody>
          <a:bodyPr wrap="square" anchor="t" lIns="25400" rIns="25400" tIns="25400" bIns="25400">
            <a:spAutoFit/>
          </a:bodyPr>
          <a:lstStyle/>
          <a:p>
            <a:pPr algn="r" rtl="1">
              <a:lnSpc>
                <a:spcPct val="140000"/>
              </a:lnSpc>
              <a:spcBef>
                <a:spcPts val="0"/>
              </a:spcBef>
              <a:spcAft>
                <a:spcPts val="1000"/>
              </a:spcAft>
            </a:pPr>
            <a:r>
              <a:rPr sz="1350" b="0">
                <a:solidFill>
                  <a:srgbClr val="4A473F"/>
                </a:solidFill>
                <a:latin typeface="Tajawal"/>
                <a:cs typeface="Tajawal"/>
              </a:rPr>
              <a:t>لا رسومات تلفزيونية مضافة في المونتاج، بل نظام بصري مصمَّم للمنصّات: كتابات متحرّكة (kinetic captions) بالعربية، وبطاقات بيانات نظيفة تُقرأ في لمحة.</a:t>
            </a:r>
          </a:p>
          <a:p>
            <a:pPr algn="r" rtl="1">
              <a:lnSpc>
                <a:spcPct val="130000"/>
              </a:lnSpc>
              <a:spcBef>
                <a:spcPts val="0"/>
              </a:spcBef>
              <a:spcAft>
                <a:spcPts val="700"/>
              </a:spcAft>
            </a:pPr>
            <a:r>
              <a:rPr sz="1250" b="1">
                <a:solidFill>
                  <a:srgbClr val="1B1A18"/>
                </a:solidFill>
                <a:latin typeface="Tajawal"/>
                <a:cs typeface="Tajawal"/>
              </a:rPr>
              <a:t>▪  Lower-third </a:t>
            </a:r>
            <a:r>
              <a:rPr sz="1250" b="0">
                <a:solidFill>
                  <a:srgbClr val="4A473F"/>
                </a:solidFill>
                <a:latin typeface="Tajawal"/>
                <a:cs typeface="Tajawal"/>
              </a:rPr>
              <a:t>بخط عربي راقٍ + لمسة حمراء واحدة.</a:t>
            </a:r>
          </a:p>
          <a:p>
            <a:pPr algn="r" rtl="1">
              <a:lnSpc>
                <a:spcPct val="130000"/>
              </a:lnSpc>
              <a:spcBef>
                <a:spcPts val="0"/>
              </a:spcBef>
              <a:spcAft>
                <a:spcPts val="700"/>
              </a:spcAft>
            </a:pPr>
            <a:r>
              <a:rPr sz="1250" b="1">
                <a:solidFill>
                  <a:srgbClr val="1B1A18"/>
                </a:solidFill>
                <a:latin typeface="Tajawal"/>
                <a:cs typeface="Tajawal"/>
              </a:rPr>
              <a:t>▪  بطاقات بيانات </a:t>
            </a:r>
            <a:r>
              <a:rPr sz="1250" b="0">
                <a:solidFill>
                  <a:srgbClr val="4A473F"/>
                </a:solidFill>
                <a:latin typeface="Tajawal"/>
                <a:cs typeface="Tajawal"/>
              </a:rPr>
              <a:t>بمساحة بيضاء واسعة وأرقام كبيرة.</a:t>
            </a:r>
          </a:p>
          <a:p>
            <a:pPr algn="r" rtl="1">
              <a:lnSpc>
                <a:spcPct val="130000"/>
              </a:lnSpc>
              <a:spcBef>
                <a:spcPts val="0"/>
              </a:spcBef>
              <a:spcAft>
                <a:spcPts val="700"/>
              </a:spcAft>
            </a:pPr>
            <a:r>
              <a:rPr sz="1250" b="1">
                <a:solidFill>
                  <a:srgbClr val="1B1A18"/>
                </a:solidFill>
                <a:latin typeface="Tajawal"/>
                <a:cs typeface="Tajawal"/>
              </a:rPr>
              <a:t>▪  ترجمة متحرّكة </a:t>
            </a:r>
            <a:r>
              <a:rPr sz="1250" b="0">
                <a:solidFill>
                  <a:srgbClr val="4A473F"/>
                </a:solidFill>
                <a:latin typeface="Tajawal"/>
                <a:cs typeface="Tajawal"/>
              </a:rPr>
              <a:t>مدمجة من التصوير — أقوى إشارة على الطابع الرقمي.</a:t>
            </a:r>
          </a:p>
        </p:txBody>
      </p:sp>
      <p:sp>
        <p:nvSpPr>
          <p:cNvPr id="12" name="Rounded Rectangle 11"/>
          <p:cNvSpPr/>
          <p:nvPr/>
        </p:nvSpPr>
        <p:spPr>
          <a:xfrm>
            <a:off x="6110935" y="1554480"/>
            <a:ext cx="5394960" cy="4023360"/>
          </a:xfrm>
          <a:prstGeom prst="roundRect">
            <a:avLst>
              <a:gd name="adj" fmla="val 6000"/>
            </a:avLst>
          </a:prstGeom>
          <a:solidFill>
            <a:srgbClr val="EFE9DF"/>
          </a:solidFill>
          <a:ln w="1524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3815" y="1554480"/>
            <a:ext cx="5029200" cy="4023360"/>
          </a:xfrm>
          <a:prstGeom prst="rect">
            <a:avLst/>
          </a:prstGeom>
          <a:noFill/>
        </p:spPr>
        <p:txBody>
          <a:bodyPr wrap="square" anchor="ctr" lIns="25400" rIns="25400" tIns="25400" bIns="25400">
            <a:spAutoFit/>
          </a:bodyPr>
          <a:lstStyle/>
          <a:p>
            <a:pPr algn="ctr" rtl="1">
              <a:lnSpc>
                <a:spcPct val="115000"/>
              </a:lnSpc>
              <a:spcBef>
                <a:spcPts val="0"/>
              </a:spcBef>
              <a:spcAft>
                <a:spcPts val="200"/>
              </a:spcAft>
            </a:pPr>
            <a:r>
              <a:rPr sz="1500" b="1">
                <a:solidFill>
                  <a:srgbClr val="4A473F"/>
                </a:solidFill>
                <a:latin typeface="Cairo"/>
                <a:cs typeface="Cairo"/>
              </a:rPr>
              <a:t>◱  صورة</a:t>
            </a:r>
          </a:p>
          <a:p>
            <a:pPr algn="ctr" rtl="1">
              <a:lnSpc>
                <a:spcPct val="115000"/>
              </a:lnSpc>
              <a:spcBef>
                <a:spcPts val="0"/>
              </a:spcBef>
              <a:spcAft>
                <a:spcPts val="0"/>
              </a:spcAft>
            </a:pPr>
            <a:r>
              <a:rPr sz="1150" b="0">
                <a:solidFill>
                  <a:srgbClr val="4A473F"/>
                </a:solidFill>
                <a:latin typeface="Tajawal"/>
                <a:cs typeface="Tajawal"/>
              </a:rPr>
              <a:t>نموذج Lower-third + بطاقة بيانات</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16</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الإطار الرقمي · Digital-first</a:t>
            </a:r>
          </a:p>
        </p:txBody>
      </p:sp>
      <p:sp>
        <p:nvSpPr>
          <p:cNvPr id="10" name="Rounded Rectangle 9"/>
          <p:cNvSpPr/>
          <p:nvPr/>
        </p:nvSpPr>
        <p:spPr>
          <a:xfrm>
            <a:off x="822960" y="1417320"/>
            <a:ext cx="2743200" cy="4754880"/>
          </a:xfrm>
          <a:prstGeom prst="roundRect">
            <a:avLst>
              <a:gd name="adj" fmla="val 6000"/>
            </a:avLst>
          </a:prstGeom>
          <a:solidFill>
            <a:srgbClr val="EFE9DF"/>
          </a:solidFill>
          <a:ln w="1524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417320"/>
            <a:ext cx="2377440" cy="4754880"/>
          </a:xfrm>
          <a:prstGeom prst="rect">
            <a:avLst/>
          </a:prstGeom>
          <a:noFill/>
        </p:spPr>
        <p:txBody>
          <a:bodyPr wrap="square" anchor="ctr" lIns="25400" rIns="25400" tIns="25400" bIns="25400">
            <a:spAutoFit/>
          </a:bodyPr>
          <a:lstStyle/>
          <a:p>
            <a:pPr algn="ctr" rtl="1">
              <a:lnSpc>
                <a:spcPct val="115000"/>
              </a:lnSpc>
              <a:spcBef>
                <a:spcPts val="0"/>
              </a:spcBef>
              <a:spcAft>
                <a:spcPts val="200"/>
              </a:spcAft>
            </a:pPr>
            <a:r>
              <a:rPr sz="1500" b="1">
                <a:solidFill>
                  <a:srgbClr val="4A473F"/>
                </a:solidFill>
                <a:latin typeface="Cairo"/>
                <a:cs typeface="Cairo"/>
              </a:rPr>
              <a:t>◱  صورة</a:t>
            </a:r>
          </a:p>
          <a:p>
            <a:pPr algn="ctr" rtl="1">
              <a:lnSpc>
                <a:spcPct val="115000"/>
              </a:lnSpc>
              <a:spcBef>
                <a:spcPts val="0"/>
              </a:spcBef>
              <a:spcAft>
                <a:spcPts val="0"/>
              </a:spcAft>
            </a:pPr>
            <a:r>
              <a:rPr sz="1150" b="0">
                <a:solidFill>
                  <a:srgbClr val="4A473F"/>
                </a:solidFill>
                <a:latin typeface="Tajawal"/>
                <a:cs typeface="Tajawal"/>
              </a:rPr>
              <a:t>كادر عمودي 9:16</a:t>
            </a:r>
          </a:p>
        </p:txBody>
      </p:sp>
      <p:sp>
        <p:nvSpPr>
          <p:cNvPr id="12" name="TextBox 11"/>
          <p:cNvSpPr txBox="1"/>
          <p:nvPr/>
        </p:nvSpPr>
        <p:spPr>
          <a:xfrm>
            <a:off x="5745175" y="1645920"/>
            <a:ext cx="576072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3000" b="1">
                <a:solidFill>
                  <a:srgbClr val="1B1A18"/>
                </a:solidFill>
                <a:latin typeface="Cairo"/>
                <a:cs typeface="Cairo"/>
              </a:rPr>
              <a:t>مُصمَّم للعمودي…</a:t>
            </a:r>
          </a:p>
          <a:p>
            <a:pPr algn="r" rtl="1">
              <a:lnSpc>
                <a:spcPct val="102000"/>
              </a:lnSpc>
              <a:spcBef>
                <a:spcPts val="0"/>
              </a:spcBef>
              <a:spcAft>
                <a:spcPts val="200"/>
              </a:spcAft>
            </a:pPr>
            <a:r>
              <a:rPr sz="3000" b="1">
                <a:solidFill>
                  <a:srgbClr val="1B1A18"/>
                </a:solidFill>
                <a:latin typeface="Cairo"/>
                <a:cs typeface="Cairo"/>
              </a:rPr>
              <a:t>لا مُقتطَع منه.</a:t>
            </a:r>
          </a:p>
        </p:txBody>
      </p:sp>
      <p:sp>
        <p:nvSpPr>
          <p:cNvPr id="13" name="TextBox 12"/>
          <p:cNvSpPr txBox="1"/>
          <p:nvPr/>
        </p:nvSpPr>
        <p:spPr>
          <a:xfrm>
            <a:off x="5745175" y="2926080"/>
            <a:ext cx="5760720" cy="1188720"/>
          </a:xfrm>
          <a:prstGeom prst="rect">
            <a:avLst/>
          </a:prstGeom>
          <a:noFill/>
        </p:spPr>
        <p:txBody>
          <a:bodyPr wrap="square" anchor="t" lIns="25400" rIns="25400" tIns="25400" bIns="25400">
            <a:spAutoFit/>
          </a:bodyPr>
          <a:lstStyle/>
          <a:p>
            <a:pPr algn="r" rtl="1">
              <a:lnSpc>
                <a:spcPct val="140000"/>
              </a:lnSpc>
              <a:spcBef>
                <a:spcPts val="0"/>
              </a:spcBef>
              <a:spcAft>
                <a:spcPts val="800"/>
              </a:spcAft>
            </a:pPr>
            <a:r>
              <a:rPr sz="1350" b="0">
                <a:solidFill>
                  <a:srgbClr val="4A473F"/>
                </a:solidFill>
                <a:latin typeface="Tajawal"/>
                <a:cs typeface="Tajawal"/>
              </a:rPr>
              <a:t>الإضاءة والكادر يخدمان الأفقي والعمودي معًا — مناطق آمنة لقصّ 9:16 من التصوير، لا كادر تلفزيوني يُبتر لاحقًا.</a:t>
            </a:r>
          </a:p>
        </p:txBody>
      </p:sp>
      <p:sp>
        <p:nvSpPr>
          <p:cNvPr id="14" name="Rounded Rectangle 13"/>
          <p:cNvSpPr/>
          <p:nvPr/>
        </p:nvSpPr>
        <p:spPr>
          <a:xfrm>
            <a:off x="10426903" y="4114800"/>
            <a:ext cx="1078992" cy="402336"/>
          </a:xfrm>
          <a:prstGeom prst="roundRect">
            <a:avLst>
              <a:gd name="adj" fmla="val 6000"/>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6903" y="4114800"/>
            <a:ext cx="1078992" cy="40233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100" b="1">
                <a:solidFill>
                  <a:srgbClr val="FFFFFF"/>
                </a:solidFill>
                <a:latin typeface="Cairo"/>
                <a:cs typeface="Cairo"/>
              </a:rPr>
              <a:t>TikTok</a:t>
            </a:r>
          </a:p>
        </p:txBody>
      </p:sp>
      <p:sp>
        <p:nvSpPr>
          <p:cNvPr id="16" name="Rounded Rectangle 15"/>
          <p:cNvSpPr/>
          <p:nvPr/>
        </p:nvSpPr>
        <p:spPr>
          <a:xfrm>
            <a:off x="9347911" y="4114800"/>
            <a:ext cx="960120" cy="402336"/>
          </a:xfrm>
          <a:prstGeom prst="roundRect">
            <a:avLst>
              <a:gd name="adj" fmla="val 6000"/>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47911" y="4114800"/>
            <a:ext cx="960120" cy="40233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100" b="1">
                <a:solidFill>
                  <a:srgbClr val="FFFFFF"/>
                </a:solidFill>
                <a:latin typeface="Cairo"/>
                <a:cs typeface="Cairo"/>
              </a:rPr>
              <a:t>Reels</a:t>
            </a:r>
          </a:p>
        </p:txBody>
      </p:sp>
      <p:sp>
        <p:nvSpPr>
          <p:cNvPr id="18" name="Rounded Rectangle 17"/>
          <p:cNvSpPr/>
          <p:nvPr/>
        </p:nvSpPr>
        <p:spPr>
          <a:xfrm>
            <a:off x="8150047" y="4114800"/>
            <a:ext cx="1078992" cy="402336"/>
          </a:xfrm>
          <a:prstGeom prst="roundRect">
            <a:avLst>
              <a:gd name="adj" fmla="val 6000"/>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0047" y="4114800"/>
            <a:ext cx="1078992" cy="40233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100" b="1">
                <a:solidFill>
                  <a:srgbClr val="FFFFFF"/>
                </a:solidFill>
                <a:latin typeface="Cairo"/>
                <a:cs typeface="Cairo"/>
              </a:rPr>
              <a:t>Shorts</a:t>
            </a:r>
          </a:p>
        </p:txBody>
      </p:sp>
      <p:sp>
        <p:nvSpPr>
          <p:cNvPr id="20" name="Rounded Rectangle 19"/>
          <p:cNvSpPr/>
          <p:nvPr/>
        </p:nvSpPr>
        <p:spPr>
          <a:xfrm>
            <a:off x="6833311" y="4114800"/>
            <a:ext cx="1197864" cy="402336"/>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33311" y="4114800"/>
            <a:ext cx="1197864" cy="40233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100" b="1">
                <a:solidFill>
                  <a:srgbClr val="1B1A18"/>
                </a:solidFill>
                <a:latin typeface="Cairo"/>
                <a:cs typeface="Cairo"/>
              </a:rPr>
              <a:t>YouTube</a:t>
            </a:r>
          </a:p>
        </p:txBody>
      </p:sp>
      <p:sp>
        <p:nvSpPr>
          <p:cNvPr id="22" name="Rounded Rectangle 21"/>
          <p:cNvSpPr/>
          <p:nvPr/>
        </p:nvSpPr>
        <p:spPr>
          <a:xfrm>
            <a:off x="10189159" y="4114800"/>
            <a:ext cx="1316736" cy="402336"/>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89159" y="4114800"/>
            <a:ext cx="1316736" cy="40233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100" b="1">
                <a:solidFill>
                  <a:srgbClr val="1B1A18"/>
                </a:solidFill>
                <a:latin typeface="Cairo"/>
                <a:cs typeface="Cairo"/>
              </a:rPr>
              <a:t>LinkedIn</a:t>
            </a:r>
          </a:p>
        </p:txBody>
      </p:sp>
      <p:sp>
        <p:nvSpPr>
          <p:cNvPr id="24" name="Rounded Rectangle 23"/>
          <p:cNvSpPr/>
          <p:nvPr/>
        </p:nvSpPr>
        <p:spPr>
          <a:xfrm>
            <a:off x="8872423" y="4114800"/>
            <a:ext cx="1197864" cy="402336"/>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72423" y="4114800"/>
            <a:ext cx="1197864" cy="40233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100" b="1">
                <a:solidFill>
                  <a:srgbClr val="1B1A18"/>
                </a:solidFill>
                <a:latin typeface="Cairo"/>
                <a:cs typeface="Cairo"/>
              </a:rPr>
              <a:t>Podcast</a:t>
            </a:r>
          </a:p>
        </p:txBody>
      </p:sp>
      <p:sp>
        <p:nvSpPr>
          <p:cNvPr id="26" name="TextBox 25"/>
          <p:cNvSpPr txBox="1"/>
          <p:nvPr/>
        </p:nvSpPr>
        <p:spPr>
          <a:xfrm>
            <a:off x="5745175" y="4754880"/>
            <a:ext cx="5760720" cy="1280160"/>
          </a:xfrm>
          <a:prstGeom prst="rect">
            <a:avLst/>
          </a:prstGeom>
          <a:noFill/>
        </p:spPr>
        <p:txBody>
          <a:bodyPr wrap="square" anchor="t" lIns="25400" rIns="25400" tIns="25400" bIns="25400">
            <a:spAutoFit/>
          </a:bodyPr>
          <a:lstStyle/>
          <a:p>
            <a:pPr algn="r" rtl="1">
              <a:lnSpc>
                <a:spcPct val="135000"/>
              </a:lnSpc>
              <a:spcBef>
                <a:spcPts val="0"/>
              </a:spcBef>
              <a:spcAft>
                <a:spcPts val="0"/>
              </a:spcAft>
            </a:pPr>
            <a:r>
              <a:rPr sz="1250" b="1">
                <a:solidFill>
                  <a:srgbClr val="1B1A18"/>
                </a:solidFill>
                <a:latin typeface="Tajawal"/>
                <a:cs typeface="Tajawal"/>
              </a:rPr>
              <a:t>تعديلات رقمية مقترحة:  </a:t>
            </a:r>
            <a:r>
              <a:rPr sz="1250" b="0">
                <a:solidFill>
                  <a:srgbClr val="4A473F"/>
                </a:solidFill>
                <a:latin typeface="Tajawal"/>
                <a:cs typeface="Tajawal"/>
              </a:rPr>
              <a:t>ضبط زمن الحلقة الكاملة عند ~22–24 دقيقة، واعتماد «الكرسي المقابل» و«لحظة مايا» كمقاطع البطولة العمودية.</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17</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لماذا سينجح</a:t>
            </a:r>
          </a:p>
        </p:txBody>
      </p:sp>
      <p:sp>
        <p:nvSpPr>
          <p:cNvPr id="10" name="TextBox 9"/>
          <p:cNvSpPr txBox="1"/>
          <p:nvPr/>
        </p:nvSpPr>
        <p:spPr>
          <a:xfrm>
            <a:off x="685800" y="1188720"/>
            <a:ext cx="10820095"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3000" b="1">
                <a:solidFill>
                  <a:srgbClr val="1B1A18"/>
                </a:solidFill>
                <a:latin typeface="Cairo"/>
                <a:cs typeface="Cairo"/>
              </a:rPr>
              <a:t>يُركِّز أندر ما تملكه CNNBA</a:t>
            </a:r>
          </a:p>
        </p:txBody>
      </p:sp>
      <p:sp>
        <p:nvSpPr>
          <p:cNvPr id="11" name="Rectangle 10"/>
          <p:cNvSpPr/>
          <p:nvPr/>
        </p:nvSpPr>
        <p:spPr>
          <a:xfrm>
            <a:off x="5989320" y="2148839"/>
            <a:ext cx="82296" cy="5029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03120"/>
            <a:ext cx="5212080" cy="822960"/>
          </a:xfrm>
          <a:prstGeom prst="rect">
            <a:avLst/>
          </a:prstGeom>
          <a:noFill/>
        </p:spPr>
        <p:txBody>
          <a:bodyPr wrap="square" anchor="t" lIns="25400" rIns="25400" tIns="25400" bIns="25400">
            <a:spAutoFit/>
          </a:bodyPr>
          <a:lstStyle/>
          <a:p>
            <a:pPr algn="r" rtl="1">
              <a:lnSpc>
                <a:spcPct val="125000"/>
              </a:lnSpc>
              <a:spcBef>
                <a:spcPts val="0"/>
              </a:spcBef>
              <a:spcAft>
                <a:spcPts val="0"/>
              </a:spcAft>
            </a:pPr>
            <a:r>
              <a:rPr sz="1400" b="1">
                <a:solidFill>
                  <a:srgbClr val="1B1A18"/>
                </a:solidFill>
                <a:latin typeface="Tajawal"/>
                <a:cs typeface="Tajawal"/>
              </a:rPr>
              <a:t>الوصول  </a:t>
            </a:r>
            <a:r>
              <a:rPr sz="1400" b="0">
                <a:solidFill>
                  <a:srgbClr val="4A473F"/>
                </a:solidFill>
                <a:latin typeface="Tajawal"/>
                <a:cs typeface="Tajawal"/>
              </a:rPr>
              <a:t>إلى أبرز صنّاع القرار الاقتصادي في المنطقة.</a:t>
            </a:r>
          </a:p>
        </p:txBody>
      </p:sp>
      <p:sp>
        <p:nvSpPr>
          <p:cNvPr id="13" name="Rectangle 12"/>
          <p:cNvSpPr/>
          <p:nvPr/>
        </p:nvSpPr>
        <p:spPr>
          <a:xfrm>
            <a:off x="11521440" y="2148839"/>
            <a:ext cx="82296" cy="5029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2103120"/>
            <a:ext cx="5212080" cy="822960"/>
          </a:xfrm>
          <a:prstGeom prst="rect">
            <a:avLst/>
          </a:prstGeom>
          <a:noFill/>
        </p:spPr>
        <p:txBody>
          <a:bodyPr wrap="square" anchor="t" lIns="25400" rIns="25400" tIns="25400" bIns="25400">
            <a:spAutoFit/>
          </a:bodyPr>
          <a:lstStyle/>
          <a:p>
            <a:pPr algn="r" rtl="1">
              <a:lnSpc>
                <a:spcPct val="125000"/>
              </a:lnSpc>
              <a:spcBef>
                <a:spcPts val="0"/>
              </a:spcBef>
              <a:spcAft>
                <a:spcPts val="0"/>
              </a:spcAft>
            </a:pPr>
            <a:r>
              <a:rPr sz="1400" b="1">
                <a:solidFill>
                  <a:srgbClr val="1B1A18"/>
                </a:solidFill>
                <a:latin typeface="Tajawal"/>
                <a:cs typeface="Tajawal"/>
              </a:rPr>
              <a:t>مصداقية تحريرية  </a:t>
            </a:r>
            <a:r>
              <a:rPr sz="1400" b="0">
                <a:solidFill>
                  <a:srgbClr val="4A473F"/>
                </a:solidFill>
                <a:latin typeface="Tajawal"/>
                <a:cs typeface="Tajawal"/>
              </a:rPr>
              <a:t>راسخة وموثوقة.</a:t>
            </a:r>
          </a:p>
        </p:txBody>
      </p:sp>
      <p:sp>
        <p:nvSpPr>
          <p:cNvPr id="15" name="Rectangle 14"/>
          <p:cNvSpPr/>
          <p:nvPr/>
        </p:nvSpPr>
        <p:spPr>
          <a:xfrm>
            <a:off x="5989320" y="3017520"/>
            <a:ext cx="82296" cy="5029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971800"/>
            <a:ext cx="5212080" cy="822960"/>
          </a:xfrm>
          <a:prstGeom prst="rect">
            <a:avLst/>
          </a:prstGeom>
          <a:noFill/>
        </p:spPr>
        <p:txBody>
          <a:bodyPr wrap="square" anchor="t" lIns="25400" rIns="25400" tIns="25400" bIns="25400">
            <a:spAutoFit/>
          </a:bodyPr>
          <a:lstStyle/>
          <a:p>
            <a:pPr algn="r" rtl="1">
              <a:lnSpc>
                <a:spcPct val="125000"/>
              </a:lnSpc>
              <a:spcBef>
                <a:spcPts val="0"/>
              </a:spcBef>
              <a:spcAft>
                <a:spcPts val="0"/>
              </a:spcAft>
            </a:pPr>
            <a:r>
              <a:rPr sz="1400" b="1">
                <a:solidFill>
                  <a:srgbClr val="1B1A18"/>
                </a:solidFill>
                <a:latin typeface="Tajawal"/>
                <a:cs typeface="Tajawal"/>
              </a:rPr>
              <a:t>أسلوب حواري مهني  </a:t>
            </a:r>
            <a:r>
              <a:rPr sz="1400" b="0">
                <a:solidFill>
                  <a:srgbClr val="4A473F"/>
                </a:solidFill>
                <a:latin typeface="Tajawal"/>
                <a:cs typeface="Tajawal"/>
              </a:rPr>
              <a:t>يجمع الصرامة والإنصاف.</a:t>
            </a:r>
          </a:p>
        </p:txBody>
      </p:sp>
      <p:sp>
        <p:nvSpPr>
          <p:cNvPr id="17" name="Rectangle 16"/>
          <p:cNvSpPr/>
          <p:nvPr/>
        </p:nvSpPr>
        <p:spPr>
          <a:xfrm>
            <a:off x="11521440" y="3017520"/>
            <a:ext cx="82296" cy="5029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2971800"/>
            <a:ext cx="5212080" cy="822960"/>
          </a:xfrm>
          <a:prstGeom prst="rect">
            <a:avLst/>
          </a:prstGeom>
          <a:noFill/>
        </p:spPr>
        <p:txBody>
          <a:bodyPr wrap="square" anchor="t" lIns="25400" rIns="25400" tIns="25400" bIns="25400">
            <a:spAutoFit/>
          </a:bodyPr>
          <a:lstStyle/>
          <a:p>
            <a:pPr algn="r" rtl="1">
              <a:lnSpc>
                <a:spcPct val="125000"/>
              </a:lnSpc>
              <a:spcBef>
                <a:spcPts val="0"/>
              </a:spcBef>
              <a:spcAft>
                <a:spcPts val="0"/>
              </a:spcAft>
            </a:pPr>
            <a:r>
              <a:rPr sz="1400" b="1">
                <a:solidFill>
                  <a:srgbClr val="1B1A18"/>
                </a:solidFill>
                <a:latin typeface="Tajawal"/>
                <a:cs typeface="Tajawal"/>
              </a:rPr>
              <a:t>تبسيط القضايا  </a:t>
            </a:r>
            <a:r>
              <a:rPr sz="1400" b="0">
                <a:solidFill>
                  <a:srgbClr val="4A473F"/>
                </a:solidFill>
                <a:latin typeface="Tajawal"/>
                <a:cs typeface="Tajawal"/>
              </a:rPr>
              <a:t>الاقتصادية بلغة واضحة.</a:t>
            </a:r>
          </a:p>
        </p:txBody>
      </p:sp>
      <p:sp>
        <p:nvSpPr>
          <p:cNvPr id="19" name="Rectangle 18"/>
          <p:cNvSpPr/>
          <p:nvPr/>
        </p:nvSpPr>
        <p:spPr>
          <a:xfrm>
            <a:off x="5989320" y="3886199"/>
            <a:ext cx="82296" cy="5029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40479"/>
            <a:ext cx="5212080" cy="822960"/>
          </a:xfrm>
          <a:prstGeom prst="rect">
            <a:avLst/>
          </a:prstGeom>
          <a:noFill/>
        </p:spPr>
        <p:txBody>
          <a:bodyPr wrap="square" anchor="t" lIns="25400" rIns="25400" tIns="25400" bIns="25400">
            <a:spAutoFit/>
          </a:bodyPr>
          <a:lstStyle/>
          <a:p>
            <a:pPr algn="r" rtl="1">
              <a:lnSpc>
                <a:spcPct val="125000"/>
              </a:lnSpc>
              <a:spcBef>
                <a:spcPts val="0"/>
              </a:spcBef>
              <a:spcAft>
                <a:spcPts val="0"/>
              </a:spcAft>
            </a:pPr>
            <a:r>
              <a:rPr sz="1400" b="1">
                <a:solidFill>
                  <a:srgbClr val="1B1A18"/>
                </a:solidFill>
                <a:latin typeface="Tajawal"/>
                <a:cs typeface="Tajawal"/>
              </a:rPr>
              <a:t>سرد قصصي  </a:t>
            </a:r>
            <a:r>
              <a:rPr sz="1400" b="0">
                <a:solidFill>
                  <a:srgbClr val="4A473F"/>
                </a:solidFill>
                <a:latin typeface="Tajawal"/>
                <a:cs typeface="Tajawal"/>
              </a:rPr>
              <a:t>مصمَّم أولًا للمنصّات الرقمية.</a:t>
            </a:r>
          </a:p>
        </p:txBody>
      </p:sp>
      <p:sp>
        <p:nvSpPr>
          <p:cNvPr id="21" name="Rectangle 20"/>
          <p:cNvSpPr/>
          <p:nvPr/>
        </p:nvSpPr>
        <p:spPr>
          <a:xfrm>
            <a:off x="11521440" y="3886199"/>
            <a:ext cx="82296" cy="5029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3840479"/>
            <a:ext cx="5212080" cy="822960"/>
          </a:xfrm>
          <a:prstGeom prst="rect">
            <a:avLst/>
          </a:prstGeom>
          <a:noFill/>
        </p:spPr>
        <p:txBody>
          <a:bodyPr wrap="square" anchor="t" lIns="25400" rIns="25400" tIns="25400" bIns="25400">
            <a:spAutoFit/>
          </a:bodyPr>
          <a:lstStyle/>
          <a:p>
            <a:pPr algn="r" rtl="1">
              <a:lnSpc>
                <a:spcPct val="125000"/>
              </a:lnSpc>
              <a:spcBef>
                <a:spcPts val="0"/>
              </a:spcBef>
              <a:spcAft>
                <a:spcPts val="0"/>
              </a:spcAft>
            </a:pPr>
            <a:r>
              <a:rPr sz="1400" b="1">
                <a:solidFill>
                  <a:srgbClr val="1B1A18"/>
                </a:solidFill>
                <a:latin typeface="Tajawal"/>
                <a:cs typeface="Tajawal"/>
              </a:rPr>
              <a:t>منظومة محتوى  </a:t>
            </a:r>
            <a:r>
              <a:rPr sz="1400" b="0">
                <a:solidFill>
                  <a:srgbClr val="4A473F"/>
                </a:solidFill>
                <a:latin typeface="Tajawal"/>
                <a:cs typeface="Tajawal"/>
              </a:rPr>
              <a:t>قابلة للتوسّع وإعادة التوظيف.</a:t>
            </a:r>
          </a:p>
        </p:txBody>
      </p:sp>
      <p:cxnSp>
        <p:nvCxnSpPr>
          <p:cNvPr id="23" name="Connector 22"/>
          <p:cNvCxnSpPr/>
          <p:nvPr/>
        </p:nvCxnSpPr>
        <p:spPr>
          <a:xfrm>
            <a:off x="685800" y="5074920"/>
            <a:ext cx="10820095" cy="0"/>
          </a:xfrm>
          <a:prstGeom prst="bentConnector3">
            <a:avLst/>
          </a:prstGeom>
          <a:ln w="12700">
            <a:solidFill>
              <a:srgbClr val="DAD2C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85800" y="5257800"/>
            <a:ext cx="10820095" cy="822960"/>
          </a:xfrm>
          <a:prstGeom prst="rect">
            <a:avLst/>
          </a:prstGeom>
          <a:noFill/>
        </p:spPr>
        <p:txBody>
          <a:bodyPr wrap="square" anchor="t" lIns="25400" rIns="25400" tIns="25400" bIns="25400">
            <a:spAutoFit/>
          </a:bodyPr>
          <a:lstStyle/>
          <a:p>
            <a:pPr algn="r" rtl="1">
              <a:lnSpc>
                <a:spcPct val="130000"/>
              </a:lnSpc>
              <a:spcBef>
                <a:spcPts val="0"/>
              </a:spcBef>
              <a:spcAft>
                <a:spcPts val="0"/>
              </a:spcAft>
            </a:pPr>
            <a:r>
              <a:rPr sz="1700" b="1">
                <a:solidFill>
                  <a:srgbClr val="B01E2E"/>
                </a:solidFill>
                <a:latin typeface="Cairo"/>
                <a:cs typeface="Cairo"/>
              </a:rPr>
              <a:t>«لأن كل قرار اقتصادي كبير… يصل في النهاية إلى محفظة شخص، أو شركته، أو مستقبله.»</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384048"/>
            <a:ext cx="1051560" cy="274320"/>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2900"/>
            <a:ext cx="1051560" cy="356616"/>
          </a:xfrm>
          <a:prstGeom prst="rect">
            <a:avLst/>
          </a:prstGeom>
          <a:noFill/>
        </p:spPr>
        <p:txBody>
          <a:bodyPr wrap="square" anchor="ctr" lIns="25400" rIns="25400" tIns="25400" bIns="25400">
            <a:spAutoFit/>
          </a:bodyPr>
          <a:lstStyle/>
          <a:p>
            <a:pPr algn="ctr">
              <a:lnSpc>
                <a:spcPct val="115000"/>
              </a:lnSpc>
              <a:spcBef>
                <a:spcPts val="0"/>
              </a:spcBef>
              <a:spcAft>
                <a:spcPts val="0"/>
              </a:spcAft>
            </a:pPr>
            <a:r>
              <a:rPr sz="1300" b="1">
                <a:solidFill>
                  <a:srgbClr val="FFFFFF"/>
                </a:solidFill>
                <a:latin typeface="Cairo"/>
                <a:cs typeface="Cairo"/>
              </a:rPr>
              <a:t>business</a:t>
            </a:r>
          </a:p>
        </p:txBody>
      </p:sp>
      <p:sp>
        <p:nvSpPr>
          <p:cNvPr id="5" name="TextBox 4"/>
          <p:cNvSpPr txBox="1"/>
          <p:nvPr/>
        </p:nvSpPr>
        <p:spPr>
          <a:xfrm>
            <a:off x="-548640" y="342900"/>
            <a:ext cx="1188720" cy="356616"/>
          </a:xfrm>
          <a:prstGeom prst="rect">
            <a:avLst/>
          </a:prstGeom>
          <a:noFill/>
        </p:spPr>
        <p:txBody>
          <a:bodyPr wrap="square" anchor="ctr" lIns="25400" rIns="25400" tIns="25400" bIns="25400">
            <a:spAutoFit/>
          </a:bodyPr>
          <a:lstStyle/>
          <a:p>
            <a:pPr algn="r">
              <a:lnSpc>
                <a:spcPct val="115000"/>
              </a:lnSpc>
              <a:spcBef>
                <a:spcPts val="0"/>
              </a:spcBef>
              <a:spcAft>
                <a:spcPts val="0"/>
              </a:spcAft>
            </a:pPr>
            <a:r>
              <a:rPr sz="1700" b="1">
                <a:solidFill>
                  <a:srgbClr val="1B1A18"/>
                </a:solidFill>
                <a:latin typeface="Cairo"/>
                <a:cs typeface="Cairo"/>
              </a:rPr>
              <a:t>CNN</a:t>
            </a:r>
          </a:p>
        </p:txBody>
      </p:sp>
      <p:sp>
        <p:nvSpPr>
          <p:cNvPr id="6" name="Right Triangle 5"/>
          <p:cNvSpPr/>
          <p:nvPr/>
        </p:nvSpPr>
        <p:spPr>
          <a:xfrm rot="10800000">
            <a:off x="-685800" y="566928"/>
            <a:ext cx="128016" cy="91440"/>
          </a:xfrm>
          <a:prstGeom prst="rtTriangle">
            <a:avLst/>
          </a:prstGeom>
          <a:solidFill>
            <a:srgbClr val="00A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1097280" cy="274320"/>
          </a:xfrm>
          <a:prstGeom prst="rect">
            <a:avLst/>
          </a:prstGeom>
          <a:noFill/>
        </p:spPr>
        <p:txBody>
          <a:bodyPr wrap="square" anchor="t" lIns="25400" rIns="25400" tIns="25400" bIns="25400">
            <a:spAutoFit/>
          </a:bodyPr>
          <a:lstStyle/>
          <a:p>
            <a:pPr algn="l">
              <a:lnSpc>
                <a:spcPct val="115000"/>
              </a:lnSpc>
              <a:spcBef>
                <a:spcPts val="0"/>
              </a:spcBef>
              <a:spcAft>
                <a:spcPts val="0"/>
              </a:spcAft>
            </a:pPr>
            <a:r>
              <a:rPr sz="1100" b="1">
                <a:solidFill>
                  <a:srgbClr val="4A473F"/>
                </a:solidFill>
                <a:latin typeface="Cairo"/>
                <a:cs typeface="Cairo"/>
              </a:rPr>
              <a:t>18</a:t>
            </a:r>
          </a:p>
        </p:txBody>
      </p:sp>
      <p:sp>
        <p:nvSpPr>
          <p:cNvPr id="8" name="Rectangle 7"/>
          <p:cNvSpPr/>
          <p:nvPr/>
        </p:nvSpPr>
        <p:spPr>
          <a:xfrm>
            <a:off x="11624767" y="585216"/>
            <a:ext cx="384048" cy="25603"/>
          </a:xfrm>
          <a:prstGeom prst="rect">
            <a:avLst/>
          </a:prstGeom>
          <a:solidFill>
            <a:srgbClr val="B0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62295" y="448056"/>
            <a:ext cx="5943600" cy="365760"/>
          </a:xfrm>
          <a:prstGeom prst="rect">
            <a:avLst/>
          </a:prstGeom>
          <a:noFill/>
        </p:spPr>
        <p:txBody>
          <a:bodyPr wrap="square" anchor="t" lIns="25400" rIns="25400" tIns="25400" bIns="25400">
            <a:spAutoFit/>
          </a:bodyPr>
          <a:lstStyle/>
          <a:p>
            <a:pPr algn="r" rtl="1">
              <a:lnSpc>
                <a:spcPct val="115000"/>
              </a:lnSpc>
              <a:spcBef>
                <a:spcPts val="0"/>
              </a:spcBef>
              <a:spcAft>
                <a:spcPts val="0"/>
              </a:spcAft>
            </a:pPr>
            <a:r>
              <a:rPr sz="1250" b="1">
                <a:solidFill>
                  <a:srgbClr val="B01E2E"/>
                </a:solidFill>
                <a:latin typeface="Cairo"/>
                <a:cs typeface="Cairo"/>
              </a:rPr>
              <a:t>الخطوات التالية</a:t>
            </a:r>
          </a:p>
        </p:txBody>
      </p:sp>
      <p:sp>
        <p:nvSpPr>
          <p:cNvPr id="10" name="TextBox 9"/>
          <p:cNvSpPr txBox="1"/>
          <p:nvPr/>
        </p:nvSpPr>
        <p:spPr>
          <a:xfrm>
            <a:off x="685800" y="1097280"/>
            <a:ext cx="7315200" cy="2011680"/>
          </a:xfrm>
          <a:prstGeom prst="rect">
            <a:avLst/>
          </a:prstGeom>
          <a:noFill/>
        </p:spPr>
        <p:txBody>
          <a:bodyPr wrap="square" anchor="t" lIns="25400" rIns="25400" tIns="25400" bIns="25400">
            <a:spAutoFit/>
          </a:bodyPr>
          <a:lstStyle/>
          <a:p>
            <a:pPr algn="r" rtl="1">
              <a:lnSpc>
                <a:spcPct val="102000"/>
              </a:lnSpc>
              <a:spcBef>
                <a:spcPts val="0"/>
              </a:spcBef>
              <a:spcAft>
                <a:spcPts val="200"/>
              </a:spcAft>
            </a:pPr>
            <a:r>
              <a:rPr sz="3000" b="1">
                <a:solidFill>
                  <a:srgbClr val="1B1A18"/>
                </a:solidFill>
                <a:latin typeface="Cairo"/>
                <a:cs typeface="Cairo"/>
              </a:rPr>
              <a:t>من الورق إلى الشاشة</a:t>
            </a:r>
          </a:p>
        </p:txBody>
      </p:sp>
      <p:sp>
        <p:nvSpPr>
          <p:cNvPr id="11" name="Rounded Rectangle 10"/>
          <p:cNvSpPr/>
          <p:nvPr/>
        </p:nvSpPr>
        <p:spPr>
          <a:xfrm>
            <a:off x="685800" y="2194560"/>
            <a:ext cx="2606040" cy="237744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340864"/>
            <a:ext cx="2203704" cy="2103120"/>
          </a:xfrm>
          <a:prstGeom prst="rect">
            <a:avLst/>
          </a:prstGeom>
          <a:noFill/>
        </p:spPr>
        <p:txBody>
          <a:bodyPr wrap="square" anchor="t" lIns="25400" rIns="25400" tIns="25400" bIns="25400">
            <a:spAutoFit/>
          </a:bodyPr>
          <a:lstStyle/>
          <a:p>
            <a:pPr algn="r" rtl="1">
              <a:lnSpc>
                <a:spcPct val="115000"/>
              </a:lnSpc>
              <a:spcBef>
                <a:spcPts val="0"/>
              </a:spcBef>
              <a:spcAft>
                <a:spcPts val="200"/>
              </a:spcAft>
            </a:pPr>
            <a:r>
              <a:rPr sz="1300" b="1">
                <a:solidFill>
                  <a:srgbClr val="B01E2E"/>
                </a:solidFill>
                <a:latin typeface="Cairo"/>
                <a:cs typeface="Cairo"/>
              </a:rPr>
              <a:t>01</a:t>
            </a:r>
          </a:p>
          <a:p>
            <a:pPr algn="r" rtl="1">
              <a:lnSpc>
                <a:spcPct val="105000"/>
              </a:lnSpc>
              <a:spcBef>
                <a:spcPts val="0"/>
              </a:spcBef>
              <a:spcAft>
                <a:spcPts val="400"/>
              </a:spcAft>
            </a:pPr>
            <a:r>
              <a:rPr sz="1550" b="1">
                <a:solidFill>
                  <a:srgbClr val="1B1A18"/>
                </a:solidFill>
                <a:latin typeface="Cairo"/>
                <a:cs typeface="Cairo"/>
              </a:rPr>
              <a:t>إقرار الهوية</a:t>
            </a:r>
          </a:p>
          <a:p>
            <a:pPr algn="r" rtl="1">
              <a:lnSpc>
                <a:spcPct val="115000"/>
              </a:lnSpc>
              <a:spcBef>
                <a:spcPts val="0"/>
              </a:spcBef>
              <a:spcAft>
                <a:spcPts val="0"/>
              </a:spcAft>
            </a:pPr>
            <a:r>
              <a:rPr sz="1150" b="0">
                <a:solidFill>
                  <a:srgbClr val="4A473F"/>
                </a:solidFill>
                <a:latin typeface="Tajawal"/>
                <a:cs typeface="Tajawal"/>
              </a:rPr>
              <a:t>اعتماد الاسم، الشعار، لوحة الخامات ونظام الرسومات.</a:t>
            </a:r>
          </a:p>
        </p:txBody>
      </p:sp>
      <p:sp>
        <p:nvSpPr>
          <p:cNvPr id="13" name="Rounded Rectangle 12"/>
          <p:cNvSpPr/>
          <p:nvPr/>
        </p:nvSpPr>
        <p:spPr>
          <a:xfrm>
            <a:off x="3447288" y="2194560"/>
            <a:ext cx="2606040" cy="237744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48456" y="2340864"/>
            <a:ext cx="2203704" cy="2103120"/>
          </a:xfrm>
          <a:prstGeom prst="rect">
            <a:avLst/>
          </a:prstGeom>
          <a:noFill/>
        </p:spPr>
        <p:txBody>
          <a:bodyPr wrap="square" anchor="t" lIns="25400" rIns="25400" tIns="25400" bIns="25400">
            <a:spAutoFit/>
          </a:bodyPr>
          <a:lstStyle/>
          <a:p>
            <a:pPr algn="r" rtl="1">
              <a:lnSpc>
                <a:spcPct val="115000"/>
              </a:lnSpc>
              <a:spcBef>
                <a:spcPts val="0"/>
              </a:spcBef>
              <a:spcAft>
                <a:spcPts val="200"/>
              </a:spcAft>
            </a:pPr>
            <a:r>
              <a:rPr sz="1300" b="1">
                <a:solidFill>
                  <a:srgbClr val="B01E2E"/>
                </a:solidFill>
                <a:latin typeface="Cairo"/>
                <a:cs typeface="Cairo"/>
              </a:rPr>
              <a:t>02</a:t>
            </a:r>
          </a:p>
          <a:p>
            <a:pPr algn="r" rtl="1">
              <a:lnSpc>
                <a:spcPct val="105000"/>
              </a:lnSpc>
              <a:spcBef>
                <a:spcPts val="0"/>
              </a:spcBef>
              <a:spcAft>
                <a:spcPts val="400"/>
              </a:spcAft>
            </a:pPr>
            <a:r>
              <a:rPr sz="1550" b="1">
                <a:solidFill>
                  <a:srgbClr val="1B1A18"/>
                </a:solidFill>
                <a:latin typeface="Cairo"/>
                <a:cs typeface="Cairo"/>
              </a:rPr>
              <a:t>بناء الاستوديو</a:t>
            </a:r>
          </a:p>
          <a:p>
            <a:pPr algn="r" rtl="1">
              <a:lnSpc>
                <a:spcPct val="115000"/>
              </a:lnSpc>
              <a:spcBef>
                <a:spcPts val="0"/>
              </a:spcBef>
              <a:spcAft>
                <a:spcPts val="0"/>
              </a:spcAft>
            </a:pPr>
            <a:r>
              <a:rPr sz="1150" b="0">
                <a:solidFill>
                  <a:srgbClr val="4A473F"/>
                </a:solidFill>
                <a:latin typeface="Tajawal"/>
                <a:cs typeface="Tajawal"/>
              </a:rPr>
              <a:t>تنفيذ الديكور الأبيض والإضاءة وخطة الكاميرات (أفقي + عمودي).</a:t>
            </a:r>
          </a:p>
        </p:txBody>
      </p:sp>
      <p:sp>
        <p:nvSpPr>
          <p:cNvPr id="15" name="Rounded Rectangle 14"/>
          <p:cNvSpPr/>
          <p:nvPr/>
        </p:nvSpPr>
        <p:spPr>
          <a:xfrm>
            <a:off x="6208776" y="2194560"/>
            <a:ext cx="2606040" cy="237744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2340864"/>
            <a:ext cx="2203704" cy="2103120"/>
          </a:xfrm>
          <a:prstGeom prst="rect">
            <a:avLst/>
          </a:prstGeom>
          <a:noFill/>
        </p:spPr>
        <p:txBody>
          <a:bodyPr wrap="square" anchor="t" lIns="25400" rIns="25400" tIns="25400" bIns="25400">
            <a:spAutoFit/>
          </a:bodyPr>
          <a:lstStyle/>
          <a:p>
            <a:pPr algn="r" rtl="1">
              <a:lnSpc>
                <a:spcPct val="115000"/>
              </a:lnSpc>
              <a:spcBef>
                <a:spcPts val="0"/>
              </a:spcBef>
              <a:spcAft>
                <a:spcPts val="200"/>
              </a:spcAft>
            </a:pPr>
            <a:r>
              <a:rPr sz="1300" b="1">
                <a:solidFill>
                  <a:srgbClr val="B01E2E"/>
                </a:solidFill>
                <a:latin typeface="Cairo"/>
                <a:cs typeface="Cairo"/>
              </a:rPr>
              <a:t>03</a:t>
            </a:r>
          </a:p>
          <a:p>
            <a:pPr algn="r" rtl="1">
              <a:lnSpc>
                <a:spcPct val="105000"/>
              </a:lnSpc>
              <a:spcBef>
                <a:spcPts val="0"/>
              </a:spcBef>
              <a:spcAft>
                <a:spcPts val="400"/>
              </a:spcAft>
            </a:pPr>
            <a:r>
              <a:rPr sz="1550" b="1">
                <a:solidFill>
                  <a:srgbClr val="1B1A18"/>
                </a:solidFill>
                <a:latin typeface="Cairo"/>
                <a:cs typeface="Cairo"/>
              </a:rPr>
              <a:t>تصوير البايلوت</a:t>
            </a:r>
          </a:p>
          <a:p>
            <a:pPr algn="r" rtl="1">
              <a:lnSpc>
                <a:spcPct val="115000"/>
              </a:lnSpc>
              <a:spcBef>
                <a:spcPts val="0"/>
              </a:spcBef>
              <a:spcAft>
                <a:spcPts val="0"/>
              </a:spcAft>
            </a:pPr>
            <a:r>
              <a:rPr sz="1150" b="0">
                <a:solidFill>
                  <a:srgbClr val="4A473F"/>
                </a:solidFill>
                <a:latin typeface="Tajawal"/>
                <a:cs typeface="Tajawal"/>
              </a:rPr>
              <a:t>الحلقة العقارية + تأمين ضيف «الكرسي المقابل».</a:t>
            </a:r>
          </a:p>
        </p:txBody>
      </p:sp>
      <p:sp>
        <p:nvSpPr>
          <p:cNvPr id="17" name="Rounded Rectangle 16"/>
          <p:cNvSpPr/>
          <p:nvPr/>
        </p:nvSpPr>
        <p:spPr>
          <a:xfrm>
            <a:off x="8970264" y="2194560"/>
            <a:ext cx="2606040" cy="2377440"/>
          </a:xfrm>
          <a:prstGeom prst="roundRect">
            <a:avLst>
              <a:gd name="adj" fmla="val 6000"/>
            </a:avLst>
          </a:prstGeom>
          <a:solidFill>
            <a:srgbClr val="FFFFFF"/>
          </a:solidFill>
          <a:ln w="12700">
            <a:solidFill>
              <a:srgbClr val="DA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71432" y="2340864"/>
            <a:ext cx="2203704" cy="2103120"/>
          </a:xfrm>
          <a:prstGeom prst="rect">
            <a:avLst/>
          </a:prstGeom>
          <a:noFill/>
        </p:spPr>
        <p:txBody>
          <a:bodyPr wrap="square" anchor="t" lIns="25400" rIns="25400" tIns="25400" bIns="25400">
            <a:spAutoFit/>
          </a:bodyPr>
          <a:lstStyle/>
          <a:p>
            <a:pPr algn="r" rtl="1">
              <a:lnSpc>
                <a:spcPct val="115000"/>
              </a:lnSpc>
              <a:spcBef>
                <a:spcPts val="0"/>
              </a:spcBef>
              <a:spcAft>
                <a:spcPts val="200"/>
              </a:spcAft>
            </a:pPr>
            <a:r>
              <a:rPr sz="1300" b="1">
                <a:solidFill>
                  <a:srgbClr val="B01E2E"/>
                </a:solidFill>
                <a:latin typeface="Cairo"/>
                <a:cs typeface="Cairo"/>
              </a:rPr>
              <a:t>04</a:t>
            </a:r>
          </a:p>
          <a:p>
            <a:pPr algn="r" rtl="1">
              <a:lnSpc>
                <a:spcPct val="105000"/>
              </a:lnSpc>
              <a:spcBef>
                <a:spcPts val="0"/>
              </a:spcBef>
              <a:spcAft>
                <a:spcPts val="400"/>
              </a:spcAft>
            </a:pPr>
            <a:r>
              <a:rPr sz="1550" b="1">
                <a:solidFill>
                  <a:srgbClr val="1B1A18"/>
                </a:solidFill>
                <a:latin typeface="Cairo"/>
                <a:cs typeface="Cairo"/>
              </a:rPr>
              <a:t>تفعيل المنظومة</a:t>
            </a:r>
          </a:p>
          <a:p>
            <a:pPr algn="r" rtl="1">
              <a:lnSpc>
                <a:spcPct val="115000"/>
              </a:lnSpc>
              <a:spcBef>
                <a:spcPts val="0"/>
              </a:spcBef>
              <a:spcAft>
                <a:spcPts val="0"/>
              </a:spcAft>
            </a:pPr>
            <a:r>
              <a:rPr sz="1150" b="0">
                <a:solidFill>
                  <a:srgbClr val="4A473F"/>
                </a:solidFill>
                <a:latin typeface="Tajawal"/>
                <a:cs typeface="Tajawal"/>
              </a:rPr>
              <a:t>قصّ المقاطع، النشر عبر المنصّات، وقياس الأداء.</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1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48495" cy="2926080"/>
          </a:xfrm>
          <a:prstGeom prst="rect">
            <a:avLst/>
          </a:prstGeom>
          <a:noFill/>
        </p:spPr>
        <p:txBody>
          <a:bodyPr wrap="square" anchor="ctr" lIns="25400" rIns="25400" tIns="25400" bIns="25400">
            <a:spAutoFit/>
          </a:bodyPr>
          <a:lstStyle/>
          <a:p>
            <a:pPr algn="ctr">
              <a:lnSpc>
                <a:spcPct val="115000"/>
              </a:lnSpc>
              <a:spcBef>
                <a:spcPts val="0"/>
              </a:spcBef>
              <a:spcAft>
                <a:spcPts val="1200"/>
              </a:spcAft>
            </a:pPr>
            <a:r>
              <a:rPr sz="1300" b="1">
                <a:solidFill>
                  <a:srgbClr val="C7A56B"/>
                </a:solidFill>
                <a:latin typeface="Cairo"/>
                <a:cs typeface="Cairo"/>
              </a:rPr>
              <a:t>CNN BUSINESS ARABIC</a:t>
            </a:r>
          </a:p>
          <a:p>
            <a:pPr algn="ctr">
              <a:lnSpc>
                <a:spcPct val="115000"/>
              </a:lnSpc>
              <a:spcBef>
                <a:spcPts val="0"/>
              </a:spcBef>
              <a:spcAft>
                <a:spcPts val="600"/>
              </a:spcAft>
            </a:pPr>
            <a:r>
              <a:rPr sz="5200" b="1">
                <a:solidFill>
                  <a:srgbClr val="FFFFFF"/>
                </a:solidFill>
                <a:latin typeface="Cairo"/>
                <a:cs typeface="Cairo"/>
              </a:rPr>
              <a:t>The Business Show</a:t>
            </a:r>
          </a:p>
          <a:p>
            <a:pPr algn="ctr" rtl="1">
              <a:lnSpc>
                <a:spcPct val="115000"/>
              </a:lnSpc>
              <a:spcBef>
                <a:spcPts val="0"/>
              </a:spcBef>
              <a:spcAft>
                <a:spcPts val="1800"/>
              </a:spcAft>
            </a:pPr>
            <a:r>
              <a:rPr sz="1600" b="1">
                <a:solidFill>
                  <a:srgbClr val="C7A56B"/>
                </a:solidFill>
                <a:latin typeface="Cairo"/>
                <a:cs typeface="Cairo"/>
              </a:rPr>
              <a:t>البرنامج الاقتصادي الأسبوعي الرئيسي — يتضمّن فقرة «غرفة القرار»</a:t>
            </a:r>
          </a:p>
          <a:p>
            <a:pPr algn="ctr" rtl="1">
              <a:lnSpc>
                <a:spcPct val="140000"/>
              </a:lnSpc>
              <a:spcBef>
                <a:spcPts val="0"/>
              </a:spcBef>
              <a:spcAft>
                <a:spcPts val="2000"/>
              </a:spcAft>
            </a:pPr>
            <a:r>
              <a:rPr sz="1500" b="0">
                <a:solidFill>
                  <a:srgbClr val="E9E4DA"/>
                </a:solidFill>
                <a:latin typeface="Tajawal"/>
                <a:cs typeface="Tajawal"/>
              </a:rPr>
              <a:t>مساحة تُطرح فيها أهم القرارات الاقتصادية في المنطقة، وتُناقش، وتُختبر، ثم تُترجم إلى لغة يفهمها كل مشاهد.</a:t>
            </a:r>
          </a:p>
          <a:p>
            <a:pPr algn="ctr" rtl="1">
              <a:lnSpc>
                <a:spcPct val="115000"/>
              </a:lnSpc>
              <a:spcBef>
                <a:spcPts val="0"/>
              </a:spcBef>
              <a:spcAft>
                <a:spcPts val="0"/>
              </a:spcAft>
            </a:pPr>
            <a:r>
              <a:rPr sz="1500" b="1">
                <a:solidFill>
                  <a:srgbClr val="C7A56B"/>
                </a:solidFill>
                <a:latin typeface="Cairo"/>
                <a:cs typeface="Cairo"/>
              </a:rPr>
              <a:t>تنتهي كل حلقة بالمشاهد… وليس بالضيف.</a:t>
            </a:r>
          </a:p>
        </p:txBody>
      </p:sp>
    </p:spTree>
  </p:cSld>
  <p:clrMapOvr>
    <a:masterClrMapping/>
  </p:clrMapOvr>
  <mc:AlternateContent xmlns:mc="http://schemas.openxmlformats.org/markup-compatibility/2006">
    <mc:Choice xmlns:p14="http://schemas.microsoft.com/office/powerpoint/2010/main" Requires="p14">
      <p:transition spd="med" p14:dur="700">
        <p14: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